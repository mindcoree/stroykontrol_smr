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Проект — приложение стройконтроля для ERP. Раньше замеры делались на выборке 32 МБ, где разница между инструментами была незаметна. Теперь — полный архив нарушений Чикаго.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Каждая строка — нарушение, выявленное на инспекции. Целевая метка — результат инспекции inspection_status. Доли статусов посчитаны по всем записям архива.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Объём вырос в разы, поэтому замеры теперь действительно различают форматы и инструменты.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Проект разложен по слоям: raw — исходник как есть, processes — очищенные данные на уровне инспекции, features — признаки для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Главное: дубликаты по id, проверка дат и координат, пропуски, агрегация нарушений до инспекций и сжатие типов.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Parquet хранит данные по столбцам, со сжатием и типами. Поэтому файл меньше, а чтение отдельных столбцов почти бесплатное.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Parquet читается быстрее: не нужно разбирать текст и угадывать типы. Отдельный вопрос — память: pandas держит всю таблицу в оперативной памяти.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DuckDB выполняет SQL прямо по файлу и читает только нужные столбцы. Для сводных отчётов это быстрее, чем pandas с чтением таблицы.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Эти шесть чисел идут в раздел «Программные средства» отчёта.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Выбор следует из цифр: pandas — для предобработки, Parquet и DuckDB — для хранения и агрегаций, Spark не нужен.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0" y="1280160"/>
            <a:ext cx="804672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0" b="1">
                <a:solidFill>
                  <a:srgbClr val="2B3037"/>
                </a:solidFill>
                <a:latin typeface="Bahnschrift"/>
              </a:rPr>
              <a:t>0,9 ГБ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2B30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200">
                <a:solidFill>
                  <a:srgbClr val="E8591A"/>
                </a:solidFill>
                <a:latin typeface="Consolas"/>
              </a:rPr>
              <a:t>ЗАДАЧА 4 · РК-1 ·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929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FFFFFF"/>
                </a:solidFill>
                <a:latin typeface="Bahnschrift"/>
              </a:rPr>
              <a:t>Автоматизация строительного контроля</a:t>
            </a:r>
          </a:p>
          <a:p>
            <a:pPr algn="l">
              <a:lnSpc>
                <a:spcPct val="95000"/>
              </a:lnSpc>
            </a:pPr>
            <a:r>
              <a:rPr sz="3600" b="1">
                <a:solidFill>
                  <a:srgbClr val="FFFFFF"/>
                </a:solidFill>
                <a:latin typeface="Bahnschrift"/>
              </a:rPr>
              <a:t>и управления качеством СМР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9B4A8"/>
                </a:solidFill>
                <a:latin typeface="Arial"/>
              </a:rPr>
              <a:t>Приложение для корпоративной ERP-платформы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10128"/>
            <a:ext cx="1188720" cy="54864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B9B4A8"/>
                </a:solidFill>
                <a:latin typeface="Arial"/>
              </a:rPr>
              <a:t>Обоснование программных средств на полном архиве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B9B4A8"/>
                </a:solidFill>
                <a:latin typeface="Arial"/>
              </a:rPr>
              <a:t>pandas  ·  Parquet  ·  DuckDB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4800600"/>
            <a:ext cx="2468880" cy="0"/>
          </a:xfrm>
          <a:prstGeom prst="line">
            <a:avLst/>
          </a:prstGeom>
          <a:ln w="12700">
            <a:solidFill>
              <a:srgbClr val="2B3037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31520" y="493776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E8591A"/>
                </a:solidFill>
                <a:latin typeface="Consolas"/>
              </a:rPr>
              <a:t>КОМАНДА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Медиханов Тимур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74720" y="4800600"/>
            <a:ext cx="2468880" cy="0"/>
          </a:xfrm>
          <a:prstGeom prst="line">
            <a:avLst/>
          </a:prstGeom>
          <a:ln w="12700">
            <a:solidFill>
              <a:srgbClr val="2B3037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3474720" y="493776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E8591A"/>
                </a:solidFill>
                <a:latin typeface="Consolas"/>
              </a:rPr>
              <a:t>ДАТАСЕТ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212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Chicago Building Violations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полный архив с 2006 года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17920" y="4800600"/>
            <a:ext cx="2468880" cy="0"/>
          </a:xfrm>
          <a:prstGeom prst="line">
            <a:avLst/>
          </a:prstGeom>
          <a:ln w="12700">
            <a:solidFill>
              <a:srgbClr val="2B3037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217920" y="493776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E8591A"/>
                </a:solidFill>
                <a:latin typeface="Consolas"/>
              </a:rPr>
              <a:t>ОБЪЁМ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212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2 030 101 запись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930 МБ в CSV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61120" y="4800600"/>
            <a:ext cx="2468880" cy="0"/>
          </a:xfrm>
          <a:prstGeom prst="line">
            <a:avLst/>
          </a:prstGeom>
          <a:ln w="12700">
            <a:solidFill>
              <a:srgbClr val="2B3037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8961120" y="493776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E8591A"/>
                </a:solidFill>
                <a:latin typeface="Consolas"/>
              </a:rPr>
              <a:t>ДАТА ЗАМЕРОВ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5212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26.09.2026 12:17</a:t>
            </a:r>
          </a:p>
        </p:txBody>
      </p:sp>
      <p:sp>
        <p:nvSpPr>
          <p:cNvPr id="22" name="Parallelogram 21"/>
          <p:cNvSpPr/>
          <p:nvPr/>
        </p:nvSpPr>
        <p:spPr>
          <a:xfrm>
            <a:off x="-365760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arallelogram 22"/>
          <p:cNvSpPr/>
          <p:nvPr/>
        </p:nvSpPr>
        <p:spPr>
          <a:xfrm>
            <a:off x="-3657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arallelogram 23"/>
          <p:cNvSpPr/>
          <p:nvPr/>
        </p:nvSpPr>
        <p:spPr>
          <a:xfrm>
            <a:off x="292607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>
            <a:off x="621792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arallelogram 25"/>
          <p:cNvSpPr/>
          <p:nvPr/>
        </p:nvSpPr>
        <p:spPr>
          <a:xfrm>
            <a:off x="95097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1280160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arallelogram 27"/>
          <p:cNvSpPr/>
          <p:nvPr/>
        </p:nvSpPr>
        <p:spPr>
          <a:xfrm>
            <a:off x="1609343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arallelogram 28"/>
          <p:cNvSpPr/>
          <p:nvPr/>
        </p:nvSpPr>
        <p:spPr>
          <a:xfrm>
            <a:off x="1938527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arallelogram 29"/>
          <p:cNvSpPr/>
          <p:nvPr/>
        </p:nvSpPr>
        <p:spPr>
          <a:xfrm>
            <a:off x="2267711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arallelogram 30"/>
          <p:cNvSpPr/>
          <p:nvPr/>
        </p:nvSpPr>
        <p:spPr>
          <a:xfrm>
            <a:off x="2596895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arallelogram 31"/>
          <p:cNvSpPr/>
          <p:nvPr/>
        </p:nvSpPr>
        <p:spPr>
          <a:xfrm>
            <a:off x="2926079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arallelogram 32"/>
          <p:cNvSpPr/>
          <p:nvPr/>
        </p:nvSpPr>
        <p:spPr>
          <a:xfrm>
            <a:off x="3255263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arallelogram 33"/>
          <p:cNvSpPr/>
          <p:nvPr/>
        </p:nvSpPr>
        <p:spPr>
          <a:xfrm>
            <a:off x="3584447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arallelogram 34"/>
          <p:cNvSpPr/>
          <p:nvPr/>
        </p:nvSpPr>
        <p:spPr>
          <a:xfrm>
            <a:off x="3913631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arallelogram 35"/>
          <p:cNvSpPr/>
          <p:nvPr/>
        </p:nvSpPr>
        <p:spPr>
          <a:xfrm>
            <a:off x="424281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arallelogram 36"/>
          <p:cNvSpPr/>
          <p:nvPr/>
        </p:nvSpPr>
        <p:spPr>
          <a:xfrm>
            <a:off x="4572000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arallelogram 37"/>
          <p:cNvSpPr/>
          <p:nvPr/>
        </p:nvSpPr>
        <p:spPr>
          <a:xfrm>
            <a:off x="4901184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arallelogram 38"/>
          <p:cNvSpPr/>
          <p:nvPr/>
        </p:nvSpPr>
        <p:spPr>
          <a:xfrm>
            <a:off x="5230368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arallelogram 39"/>
          <p:cNvSpPr/>
          <p:nvPr/>
        </p:nvSpPr>
        <p:spPr>
          <a:xfrm>
            <a:off x="5559552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arallelogram 40"/>
          <p:cNvSpPr/>
          <p:nvPr/>
        </p:nvSpPr>
        <p:spPr>
          <a:xfrm>
            <a:off x="588873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6217920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arallelogram 42"/>
          <p:cNvSpPr/>
          <p:nvPr/>
        </p:nvSpPr>
        <p:spPr>
          <a:xfrm>
            <a:off x="6547104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arallelogram 43"/>
          <p:cNvSpPr/>
          <p:nvPr/>
        </p:nvSpPr>
        <p:spPr>
          <a:xfrm>
            <a:off x="6876288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arallelogram 44"/>
          <p:cNvSpPr/>
          <p:nvPr/>
        </p:nvSpPr>
        <p:spPr>
          <a:xfrm>
            <a:off x="7205472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arallelogram 45"/>
          <p:cNvSpPr/>
          <p:nvPr/>
        </p:nvSpPr>
        <p:spPr>
          <a:xfrm>
            <a:off x="753465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arallelogram 46"/>
          <p:cNvSpPr/>
          <p:nvPr/>
        </p:nvSpPr>
        <p:spPr>
          <a:xfrm>
            <a:off x="7863840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arallelogram 47"/>
          <p:cNvSpPr/>
          <p:nvPr/>
        </p:nvSpPr>
        <p:spPr>
          <a:xfrm>
            <a:off x="8193024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arallelogram 48"/>
          <p:cNvSpPr/>
          <p:nvPr/>
        </p:nvSpPr>
        <p:spPr>
          <a:xfrm>
            <a:off x="8522208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arallelogram 49"/>
          <p:cNvSpPr/>
          <p:nvPr/>
        </p:nvSpPr>
        <p:spPr>
          <a:xfrm>
            <a:off x="8851392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arallelogram 50"/>
          <p:cNvSpPr/>
          <p:nvPr/>
        </p:nvSpPr>
        <p:spPr>
          <a:xfrm>
            <a:off x="918057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arallelogram 51"/>
          <p:cNvSpPr/>
          <p:nvPr/>
        </p:nvSpPr>
        <p:spPr>
          <a:xfrm>
            <a:off x="9509759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arallelogram 52"/>
          <p:cNvSpPr/>
          <p:nvPr/>
        </p:nvSpPr>
        <p:spPr>
          <a:xfrm>
            <a:off x="9838943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arallelogram 53"/>
          <p:cNvSpPr/>
          <p:nvPr/>
        </p:nvSpPr>
        <p:spPr>
          <a:xfrm>
            <a:off x="10168127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0497311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arallelogram 55"/>
          <p:cNvSpPr/>
          <p:nvPr/>
        </p:nvSpPr>
        <p:spPr>
          <a:xfrm>
            <a:off x="10826495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arallelogram 56"/>
          <p:cNvSpPr/>
          <p:nvPr/>
        </p:nvSpPr>
        <p:spPr>
          <a:xfrm>
            <a:off x="11155679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arallelogram 57"/>
          <p:cNvSpPr/>
          <p:nvPr/>
        </p:nvSpPr>
        <p:spPr>
          <a:xfrm>
            <a:off x="11484863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arallelogram 58"/>
          <p:cNvSpPr/>
          <p:nvPr/>
        </p:nvSpPr>
        <p:spPr>
          <a:xfrm>
            <a:off x="11814047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arallelogram 59"/>
          <p:cNvSpPr/>
          <p:nvPr/>
        </p:nvSpPr>
        <p:spPr>
          <a:xfrm>
            <a:off x="12143231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Parallelogram 60"/>
          <p:cNvSpPr/>
          <p:nvPr/>
        </p:nvSpPr>
        <p:spPr>
          <a:xfrm>
            <a:off x="12472415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01 — ЗАДАЧА И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Контекст и структура данных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СПЕЦИФИКА СТРОЙКОНТРОЛЯ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4884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227"/>
                </a:solidFill>
                <a:latin typeface="Arial"/>
              </a:rPr>
              <a:t>Каждая инспекция объекта фиксирует нарушения, их статус и результат проверки. Приложение в ERP переводит этот поток актов в структурированные записи для учёта качества СМР.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5760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57600"/>
            <a:ext cx="105156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Arial"/>
              </a:rPr>
              <a:t>Инспекция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39" y="3767328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8591A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365760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3657600"/>
            <a:ext cx="105156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Arial"/>
              </a:rPr>
              <a:t>Нарушения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767328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8591A"/>
                </a:solidFill>
                <a:latin typeface="Arial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39" y="365760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39" y="3657600"/>
            <a:ext cx="105156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Arial"/>
              </a:rPr>
              <a:t>Статус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767328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8591A"/>
                </a:solidFill>
                <a:latin typeface="Arial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3657600"/>
            <a:ext cx="1051560" cy="685800"/>
          </a:xfrm>
          <a:prstGeom prst="rect">
            <a:avLst/>
          </a:prstGeom>
          <a:solidFill>
            <a:srgbClr val="1E2227"/>
          </a:solidFill>
          <a:ln w="9525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3657600"/>
            <a:ext cx="105156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Запись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в ERP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1828800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ПАСПОРТ ДАТАСЕТА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12140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Источник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12140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Chicago Data Portal · 22u3-xenr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09360" y="2441448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309360" y="245973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Записей (нарушений)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45973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2 030 101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09360" y="2779776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6309360" y="279806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Столбцов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279806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26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09360" y="3118104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309360" y="313639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Период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31363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01.01.2006 – 25.09.2026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309360" y="3456432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6309360" y="34747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Объектов (property group)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4747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155 704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309360" y="3794760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309360" y="38130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Типов нарушений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381304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1 574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309360" y="4133087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309360" y="415137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Инспекций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415137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470 061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309360" y="4471416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6309360" y="448970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Целевая метка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44897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inspection_status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309360" y="4809744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640080" y="502920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РЕЗУЛЬТАТ ИНСПЕКЦИИ · ДОЛЯ ЗАПИСЕЙ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" y="5321808"/>
            <a:ext cx="7446218" cy="27432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86298" y="5321808"/>
            <a:ext cx="2090702" cy="27432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177001" y="5321808"/>
            <a:ext cx="1373796" cy="274320"/>
          </a:xfrm>
          <a:prstGeom prst="rect">
            <a:avLst/>
          </a:prstGeom>
          <a:solidFill>
            <a:srgbClr val="9A9E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080" y="5724144"/>
            <a:ext cx="109728" cy="109728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5669280"/>
            <a:ext cx="119329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Consolas"/>
              </a:rPr>
              <a:t>FAILED 68,2 %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90572" y="5724144"/>
            <a:ext cx="109728" cy="109728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55164" y="5669280"/>
            <a:ext cx="119329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Consolas"/>
              </a:rPr>
              <a:t>PASSED 19,2 %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41063" y="5724144"/>
            <a:ext cx="109728" cy="109728"/>
          </a:xfrm>
          <a:prstGeom prst="rect">
            <a:avLst/>
          </a:prstGeom>
          <a:solidFill>
            <a:srgbClr val="9A9E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05655" y="5669280"/>
            <a:ext cx="119329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Consolas"/>
              </a:rPr>
              <a:t>CLOSED 12,6 %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02 — МАСШТАБ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От выборки к полному архиву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4617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1828800"/>
            <a:ext cx="4617720" cy="73152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" y="2103120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1E2227"/>
                </a:solidFill>
                <a:latin typeface="Consolas"/>
              </a:rPr>
              <a:t>БЫЛО · ВЫБОРКА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2542032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записей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54203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111 602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0119" y="2926079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960119" y="3072384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размер 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072384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32,62 МБ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0119" y="3456432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960119" y="360273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столбцов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3602736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12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0119" y="3986784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960119" y="4133087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период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133087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01.01.2021 – 24.01.2023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60119" y="4517136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3" name="Rectangle 32"/>
          <p:cNvSpPr/>
          <p:nvPr/>
        </p:nvSpPr>
        <p:spPr>
          <a:xfrm>
            <a:off x="6903720" y="1828800"/>
            <a:ext cx="4617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03720" y="1828800"/>
            <a:ext cx="4617720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59" y="2103120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СТАЛО · ПОЛНЫЙ АРХИВ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59" y="2542032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записей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254203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2 030 101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223759" y="2926079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7223759" y="3072384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размер CSV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3072384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930,39 МБ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223759" y="3456432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7223759" y="360273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столбцов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3602736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26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223759" y="3986784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7223759" y="4133087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период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4133087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01.01.2006 – 25.09.2026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223759" y="4517136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5257800" y="269748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>
                <a:solidFill>
                  <a:srgbClr val="E8591A"/>
                </a:solidFill>
                <a:latin typeface="Bahnschrift"/>
              </a:rPr>
              <a:t>×</a:t>
            </a:r>
            <a:r>
              <a:rPr sz="4400" b="1">
                <a:solidFill>
                  <a:srgbClr val="E8591A"/>
                </a:solidFill>
                <a:latin typeface="Bahnschrift"/>
              </a:rPr>
              <a:t>29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7800" y="3520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B636E"/>
                </a:solidFill>
                <a:latin typeface="Consolas"/>
              </a:rPr>
              <a:t>по объёму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227"/>
                </a:solidFill>
                <a:latin typeface="Arial"/>
              </a:rPr>
              <a:t>На 32 МБ разница между инструментами измерялась долями секунды и не могла быть аргументом. На полном архиве те же замеры показывают, где pandas упирается в память и зачем нужны Parquet и DuckDB.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03 — СТРУКТУРА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Слои данных: raw → processes → features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32004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1828800"/>
            <a:ext cx="73152" cy="324612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" y="2057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8591A"/>
                </a:solidFill>
                <a:latin typeface="Consolas"/>
              </a:rPr>
              <a:t>raw/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2514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raw.ipynb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19" y="2852928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building_violations.csv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building_violations.parquet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0119" y="3566160"/>
            <a:ext cx="26060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960119" y="3675887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E2227"/>
                </a:solidFill>
                <a:latin typeface="Bahnschrift"/>
              </a:rPr>
              <a:t>2 030 101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19" y="4434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36E"/>
                </a:solidFill>
                <a:latin typeface="Arial"/>
              </a:rPr>
              <a:t>строк · 1 строка = 1 нарушение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15468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E8591A"/>
                </a:solidFill>
                <a:latin typeface="Arial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1828800"/>
            <a:ext cx="32004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60" y="1828800"/>
            <a:ext cx="73152" cy="324612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2057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8591A"/>
                </a:solidFill>
                <a:latin typeface="Consolas"/>
              </a:rPr>
              <a:t>processes/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2514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processed.ipynb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2852928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building_violations_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processed.parquet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00600" y="3566160"/>
            <a:ext cx="260604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4800600" y="3675887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E2227"/>
                </a:solidFill>
                <a:latin typeface="Bahnschrift"/>
              </a:rPr>
              <a:t>470 057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4434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36E"/>
                </a:solidFill>
                <a:latin typeface="Arial"/>
              </a:rPr>
              <a:t>строк · 1 строка = 1 инспекция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15468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E8591A"/>
                </a:solidFill>
                <a:latin typeface="Arial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1828800"/>
            <a:ext cx="32004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1040" y="1828800"/>
            <a:ext cx="73152" cy="324612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2057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8591A"/>
                </a:solidFill>
                <a:latin typeface="Consolas"/>
              </a:rPr>
              <a:t>features/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2514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feat.ipynb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2852928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building_violations_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features.parquet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641080" y="3566160"/>
            <a:ext cx="260604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8641080" y="3675887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E2227"/>
                </a:solidFill>
                <a:latin typeface="Bahnschrift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4434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36E"/>
                </a:solidFill>
                <a:latin typeface="Arial"/>
              </a:rPr>
              <a:t>признаков · цель target_failed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36E"/>
                </a:solidFill>
                <a:latin typeface="Consolas"/>
              </a:rPr>
              <a:t>task4_zamery.ipynb — замеры по raw-слою и сборка этой презентации · make_presentation.py — генератор слайдов из results.json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04 — ПРЕДОБРАБОТКА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Что сделано с данными в processes/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783080"/>
            <a:ext cx="10881360" cy="347472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1783080"/>
            <a:ext cx="54864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1783080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ШАГ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1783080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ЧТО СДЕЛАНО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783080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ЭФФЕКТ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1305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21305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Bahnschrift"/>
              </a:rPr>
              <a:t>Дубликаты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13055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повторы id: оставлена последняя версия записи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13055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25877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777240" y="25877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25877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Bahnschrift"/>
              </a:rPr>
              <a:t>Категории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258775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strip + upper, пустые строки → пропуски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58775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5 столбцов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30449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777240" y="30449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30449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Bahnschrift"/>
              </a:rPr>
              <a:t>Даты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304495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нет даты нарушения или она вне 2006 — сегодня: запись удалена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04495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080" y="35021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777240" y="35021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35021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Bahnschrift"/>
              </a:rPr>
              <a:t>Дата статуса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350215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раньше даты нарушения → пропуск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50215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40080" y="39593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777240" y="39593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39593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Bahnschrift"/>
              </a:rPr>
              <a:t>Координаты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395935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вне границ Чикаго или пустые → пропуск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395935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2 020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0080" y="44165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777240" y="44165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" y="44165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Bahnschrift"/>
              </a:rPr>
              <a:t>Агрегация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441655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нарушения → инспекции (inspection_number)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441655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2 030 085 → 470 057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40080" y="48737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777240" y="48737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71600" y="48737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Bahnschrift"/>
              </a:rPr>
              <a:t>Типы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3280" y="487375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category, downcast int, float32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487375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98 → 53 МБ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40080" y="53309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640080" y="551383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36E"/>
                </a:solidFill>
                <a:latin typeface="Consolas"/>
              </a:rPr>
              <a:t>Гранулярность processes: одна строка = одна инспекция объекта · целевая метка inspection_status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05 — ХРАНЕНИЕ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CSV против Parquet: размер на диске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00">
                <a:solidFill>
                  <a:srgbClr val="5B636E"/>
                </a:solidFill>
                <a:latin typeface="Consolas"/>
              </a:rPr>
              <a:t>CSV · ТЕКСТ, БЕЗ ТИПОВ И СЖАТИЯ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157984"/>
            <a:ext cx="5852160" cy="54864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15798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2227"/>
                </a:solidFill>
                <a:latin typeface="Bahnschrift"/>
              </a:rPr>
              <a:t>930,4 МБ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2999232"/>
            <a:ext cx="5852160" cy="0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640080" y="2916936"/>
            <a:ext cx="0" cy="164592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585215" y="2944368"/>
            <a:ext cx="109729" cy="109728"/>
          </a:xfrm>
          <a:prstGeom prst="line">
            <a:avLst/>
          </a:prstGeom>
          <a:ln w="19050">
            <a:solidFill>
              <a:srgbClr val="5B636E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492240" y="2916936"/>
            <a:ext cx="0" cy="164592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6437376" y="2944368"/>
            <a:ext cx="109728" cy="109728"/>
          </a:xfrm>
          <a:prstGeom prst="line">
            <a:avLst/>
          </a:prstGeom>
          <a:ln w="19050">
            <a:solidFill>
              <a:srgbClr val="5B636E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2834640" y="272491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B636E"/>
                </a:solidFill>
                <a:latin typeface="Consolas"/>
              </a:rPr>
              <a:t>100 %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429000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00">
                <a:solidFill>
                  <a:srgbClr val="E8591A"/>
                </a:solidFill>
                <a:latin typeface="Consolas"/>
              </a:rPr>
              <a:t>PARQUET · КОЛОНКИ, ТИПЫ, SNAPPY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758184"/>
            <a:ext cx="5852160" cy="54864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758184"/>
            <a:ext cx="939035" cy="54864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75818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591A"/>
                </a:solidFill>
                <a:latin typeface="Bahnschrift"/>
              </a:rPr>
              <a:t>149,3 МБ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4599432"/>
            <a:ext cx="939035" cy="0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640080" y="4517136"/>
            <a:ext cx="0" cy="164592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3" name="Connector 32"/>
          <p:cNvCxnSpPr/>
          <p:nvPr/>
        </p:nvCxnSpPr>
        <p:spPr>
          <a:xfrm flipV="1">
            <a:off x="585215" y="4544568"/>
            <a:ext cx="109729" cy="109728"/>
          </a:xfrm>
          <a:prstGeom prst="line">
            <a:avLst/>
          </a:prstGeom>
          <a:ln w="19050">
            <a:solidFill>
              <a:srgbClr val="E8591A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579115" y="4517136"/>
            <a:ext cx="0" cy="164592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5" name="Connector 34"/>
          <p:cNvCxnSpPr/>
          <p:nvPr/>
        </p:nvCxnSpPr>
        <p:spPr>
          <a:xfrm flipV="1">
            <a:off x="1524251" y="4544568"/>
            <a:ext cx="109728" cy="109728"/>
          </a:xfrm>
          <a:prstGeom prst="line">
            <a:avLst/>
          </a:prstGeom>
          <a:ln w="19050">
            <a:solidFill>
              <a:srgbClr val="E8591A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378077" y="432511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E8591A"/>
                </a:solidFill>
                <a:latin typeface="Consolas"/>
              </a:rPr>
              <a:t>16 %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98280" y="1828800"/>
            <a:ext cx="2423160" cy="306324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E8591A"/>
                </a:solidFill>
                <a:latin typeface="Bahnschrift"/>
              </a:rPr>
              <a:t>×6,2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78892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меньше места на диске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6880" y="34381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59" y="33832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типы дат и чисел хранятся в самом файле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38953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59" y="38404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запрос читает только нужные столбцы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43525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59" y="42976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сжатие Snappy без потерь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983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227"/>
                </a:solidFill>
                <a:latin typeface="Arial"/>
              </a:rPr>
              <a:t>Если запросу нужны 2 столбца из 26, Parquet прочитает только их, а CSV придётся разобрать целиком, строка за строкой.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06 — PANDAS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Время чтения датасета в память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00">
                <a:solidFill>
                  <a:srgbClr val="5B636E"/>
                </a:solidFill>
                <a:latin typeface="Consolas"/>
              </a:rPr>
              <a:t>PD.READ_CSV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157984"/>
            <a:ext cx="5852160" cy="54864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15798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2227"/>
                </a:solidFill>
                <a:latin typeface="Bahnschrift"/>
              </a:rPr>
              <a:t>15,25 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2999232"/>
            <a:ext cx="5852160" cy="0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640080" y="2916936"/>
            <a:ext cx="0" cy="164592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585215" y="2944368"/>
            <a:ext cx="109729" cy="109728"/>
          </a:xfrm>
          <a:prstGeom prst="line">
            <a:avLst/>
          </a:prstGeom>
          <a:ln w="19050">
            <a:solidFill>
              <a:srgbClr val="5B636E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492240" y="2916936"/>
            <a:ext cx="0" cy="164592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6437376" y="2944368"/>
            <a:ext cx="109728" cy="109728"/>
          </a:xfrm>
          <a:prstGeom prst="line">
            <a:avLst/>
          </a:prstGeom>
          <a:ln w="19050">
            <a:solidFill>
              <a:srgbClr val="5B636E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2834640" y="272491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B636E"/>
                </a:solidFill>
                <a:latin typeface="Consolas"/>
              </a:rPr>
              <a:t>100 %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429000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00">
                <a:solidFill>
                  <a:srgbClr val="E8591A"/>
                </a:solidFill>
                <a:latin typeface="Consolas"/>
              </a:rPr>
              <a:t>PD.READ_PARQUET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758184"/>
            <a:ext cx="5852160" cy="54864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758184"/>
            <a:ext cx="606705" cy="54864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75818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591A"/>
                </a:solidFill>
                <a:latin typeface="Bahnschrift"/>
              </a:rPr>
              <a:t>1,58 с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4599432"/>
            <a:ext cx="606705" cy="0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640080" y="4517136"/>
            <a:ext cx="0" cy="164592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3" name="Connector 32"/>
          <p:cNvCxnSpPr/>
          <p:nvPr/>
        </p:nvCxnSpPr>
        <p:spPr>
          <a:xfrm flipV="1">
            <a:off x="585215" y="4544568"/>
            <a:ext cx="109729" cy="109728"/>
          </a:xfrm>
          <a:prstGeom prst="line">
            <a:avLst/>
          </a:prstGeom>
          <a:ln w="19050">
            <a:solidFill>
              <a:srgbClr val="E8591A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246785" y="4517136"/>
            <a:ext cx="0" cy="164592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5" name="Connector 34"/>
          <p:cNvCxnSpPr/>
          <p:nvPr/>
        </p:nvCxnSpPr>
        <p:spPr>
          <a:xfrm flipV="1">
            <a:off x="1191921" y="4544568"/>
            <a:ext cx="109728" cy="109728"/>
          </a:xfrm>
          <a:prstGeom prst="line">
            <a:avLst/>
          </a:prstGeom>
          <a:ln w="19050">
            <a:solidFill>
              <a:srgbClr val="E8591A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211912" y="432511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E8591A"/>
                </a:solidFill>
                <a:latin typeface="Consolas"/>
              </a:rPr>
              <a:t>10 %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98280" y="1828800"/>
            <a:ext cx="2423160" cy="306324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E8591A"/>
                </a:solidFill>
                <a:latin typeface="Bahnschrift"/>
              </a:rPr>
              <a:t>×9,6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78892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быстрее чтение из Parquet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6880" y="34381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59" y="33832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медиана: CSV — 3 прогона, Parquet — 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38953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59" y="38404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DataFrame в памяти: 1,18 ГБ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43525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59" y="42976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читались все столбцы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983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227"/>
                </a:solidFill>
                <a:latin typeface="Arial"/>
              </a:rPr>
              <a:t>Все столбцы поместились: оценка 1,1 ГБ при 7,2 ГБ свободной памяти. Для предобработки pandas подходит.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07 — DUCKDB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Агрегация прямо по Parquet-файлу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737360"/>
            <a:ext cx="8046720" cy="1325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800" b="1">
                <a:solidFill>
                  <a:srgbClr val="E8591A"/>
                </a:solidFill>
                <a:latin typeface="Bahnschrift"/>
              </a:rPr>
              <a:t>11,6</a:t>
            </a:r>
            <a:r>
              <a:rPr sz="3400" b="1">
                <a:solidFill>
                  <a:srgbClr val="E8591A"/>
                </a:solidFill>
                <a:latin typeface="Bahnschrift"/>
              </a:rPr>
              <a:t> мс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10896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Arial"/>
              </a:rPr>
              <a:t>группировка и подсчёт 2 030 101 строк по inspection_status · медиана 15 прогонов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11880"/>
            <a:ext cx="8046720" cy="118872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67328"/>
            <a:ext cx="76809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2EFE8"/>
                </a:solidFill>
                <a:latin typeface="Consolas"/>
              </a:rPr>
              <a:t>SELECT inspection_status, count(*) AS n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2EFE8"/>
                </a:solidFill>
                <a:latin typeface="Consolas"/>
              </a:rPr>
              <a:t>FROM 'raw/building_violations.parquet'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2EFE8"/>
                </a:solidFill>
                <a:latin typeface="Consolas"/>
              </a:rPr>
              <a:t>GROUP BY 1 ORDER BY n DESC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8348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Прямое поколоночное сканирование: DuckDB читает из файла один нужный столбец и ничего не загружает в pandas.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783080"/>
            <a:ext cx="2423160" cy="4224528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965960"/>
            <a:ext cx="1965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E8591A"/>
                </a:solidFill>
                <a:latin typeface="Consolas"/>
              </a:rPr>
              <a:t>СРАВНЕНИЕ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286000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B9B4A8"/>
                </a:solidFill>
                <a:latin typeface="Arial"/>
              </a:rPr>
              <a:t>Тот же запрос в DuckDB по 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7432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0,98 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200400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B9B4A8"/>
                </a:solidFill>
                <a:latin typeface="Arial"/>
              </a:rPr>
              <a:t>pandas groupby по DataFrame, уже загруженному в память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6576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46,6 мс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114800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B9B4A8"/>
                </a:solidFill>
                <a:latin typeface="Arial"/>
              </a:rPr>
              <a:t>Доля FAILED по годам и службам: pandas, чтение + groupby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5720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0,32 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5029200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B9B4A8"/>
                </a:solidFill>
                <a:latin typeface="Arial"/>
              </a:rPr>
              <a:t>То же в DuckDB: один SQL по файлу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54864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591A"/>
                </a:solidFill>
                <a:latin typeface="Bahnschrift"/>
              </a:rPr>
              <a:t>0,041 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08 — ФИКСАЦИЯ РЕЗУЛЬТАТОВ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Итоговая ведомость замеров для отчёта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10881360" cy="438912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1828800"/>
            <a:ext cx="4480559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ПАРАМЕТР ЗАМЕРА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828800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ФОРМАТ / ИНСТРУМЕНТ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828800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ЗНАЧЕНИЕ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2267712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Размер исходного файла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267712"/>
            <a:ext cx="28346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36E"/>
                </a:solidFill>
                <a:latin typeface="Consolas"/>
              </a:rPr>
              <a:t>CSV, текст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267712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E2227"/>
                </a:solidFill>
                <a:latin typeface="Consolas"/>
              </a:rPr>
              <a:t>930,39 МБ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2798064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640080" y="2798064"/>
            <a:ext cx="10881360" cy="530352"/>
          </a:xfrm>
          <a:prstGeom prst="rect">
            <a:avLst/>
          </a:prstGeom>
          <a:solidFill>
            <a:srgbClr val="E8E4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2798064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Размер сжатого файла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2798064"/>
            <a:ext cx="28346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Parquet, Snappy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798064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E8591A"/>
                </a:solidFill>
                <a:latin typeface="Consolas"/>
              </a:rPr>
              <a:t>149,29 МБ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3328416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822959" y="3328416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Время чтения в память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3328416"/>
            <a:ext cx="28346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36E"/>
                </a:solidFill>
                <a:latin typeface="Consolas"/>
              </a:rPr>
              <a:t>pandas · 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328416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E2227"/>
                </a:solidFill>
                <a:latin typeface="Consolas"/>
              </a:rPr>
              <a:t>15,250 с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3858768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640080" y="3858768"/>
            <a:ext cx="10881360" cy="530352"/>
          </a:xfrm>
          <a:prstGeom prst="rect">
            <a:avLst/>
          </a:prstGeom>
          <a:solidFill>
            <a:srgbClr val="E8E4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3858768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Время чтения из файла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3858768"/>
            <a:ext cx="28346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pandas · Parquet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858768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E8591A"/>
                </a:solidFill>
                <a:latin typeface="Consolas"/>
              </a:rPr>
              <a:t>1,581 с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4389120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822959" y="4389120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Агрегация по целевому столбцу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4389120"/>
            <a:ext cx="28346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DuckDB SQL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389120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E8591A"/>
                </a:solidFill>
                <a:latin typeface="Consolas"/>
              </a:rPr>
              <a:t>0,0116 с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0080" y="491947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4" name="Rectangle 43"/>
          <p:cNvSpPr/>
          <p:nvPr/>
        </p:nvSpPr>
        <p:spPr>
          <a:xfrm>
            <a:off x="640080" y="4919472"/>
            <a:ext cx="10881360" cy="530352"/>
          </a:xfrm>
          <a:prstGeom prst="rect">
            <a:avLst/>
          </a:prstGeom>
          <a:solidFill>
            <a:srgbClr val="E8E4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59" y="4919472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Память машины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4919472"/>
            <a:ext cx="28346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36E"/>
                </a:solidFill>
                <a:latin typeface="Consolas"/>
              </a:rPr>
              <a:t>RAM всего / свободно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4919472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E2227"/>
                </a:solidFill>
                <a:latin typeface="Consolas"/>
              </a:rPr>
              <a:t>8,4 / 7,6 ГБ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0080" y="5449824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cxnSp>
        <p:nvCxnSpPr>
          <p:cNvPr id="49" name="Connector 48"/>
          <p:cNvCxnSpPr/>
          <p:nvPr/>
        </p:nvCxnSpPr>
        <p:spPr>
          <a:xfrm>
            <a:off x="5486400" y="1828800"/>
            <a:ext cx="0" cy="3621024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8686800" y="1828800"/>
            <a:ext cx="0" cy="3621024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640080" y="5632704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Медианы: чтение CSV — 3 прогона, Parquet — 5, DuckDB — 15. pandas читал все столбцы.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09 — ВЫВОД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Выбор инструментов, обоснованный цифрами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5577840" cy="402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E2227"/>
                </a:solidFill>
                <a:latin typeface="Arial"/>
              </a:rPr>
              <a:t>Датасет занимает 0,93 ГБ в CSV (2 030 101 запись). В Parquet тот же набор весит 149 МБ, в 6,2 раза меньше, и читается в pandas за 1,6 с против 15,2 с у CSV. По памяти: полная таблица занимает в pandas 1,2 ГБ при 7,2 ГБ свободной памяти, для предобработки pandas достаточно. Агрегация в DuckDB прямо по Parquet занимает 11,6 мс, сводный запрос по годам и службам выполняется в 7,8 раза быстрее, чем в pandas. Данные помещаются на одну машину с 8,4 ГБ памяти, обработка разовая, поэтому Spark избыточен: Parquet — для хранения, DuckDB — для агрегаций, pandas — для предобработки.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828800"/>
            <a:ext cx="4937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1828800"/>
            <a:ext cx="73152" cy="868680"/>
          </a:xfrm>
          <a:prstGeom prst="rect">
            <a:avLst/>
          </a:prstGeom>
          <a:solidFill>
            <a:srgbClr val="C9C3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19385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2227"/>
                </a:solidFill>
                <a:latin typeface="Bahnschrift"/>
              </a:rPr>
              <a:t>Excel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97510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spc="100">
                <a:solidFill>
                  <a:srgbClr val="5B636E"/>
                </a:solidFill>
                <a:latin typeface="Consolas"/>
              </a:rPr>
              <a:t>НЕ ОТКРОЕТ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331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36E"/>
                </a:solidFill>
                <a:latin typeface="Arial"/>
              </a:rPr>
              <a:t>2 030 101 строк при пределе листа 1 048 576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816352"/>
            <a:ext cx="4937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2816352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2926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2227"/>
                </a:solidFill>
                <a:latin typeface="Bahnschrift"/>
              </a:rPr>
              <a:t>pandas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96265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spc="100">
                <a:solidFill>
                  <a:srgbClr val="E8591A"/>
                </a:solidFill>
                <a:latin typeface="Consolas"/>
              </a:rPr>
              <a:t>ПРЕДОБРАБОТКА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31927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36E"/>
                </a:solidFill>
                <a:latin typeface="Arial"/>
              </a:rPr>
              <a:t>DataFrame 1,18 ГБ при 8,4 ГБ RAM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803904"/>
            <a:ext cx="4937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3803904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391363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2227"/>
                </a:solidFill>
                <a:latin typeface="Bahnschrift"/>
              </a:rPr>
              <a:t>Parquet + DuckDB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95020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spc="100">
                <a:solidFill>
                  <a:srgbClr val="E8591A"/>
                </a:solidFill>
                <a:latin typeface="Consolas"/>
              </a:rPr>
              <a:t>ХРАНЕНИЕ И АГРЕГАЦИИ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30682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36E"/>
                </a:solidFill>
                <a:latin typeface="Arial"/>
              </a:rPr>
              <a:t>файл в 6,2 раза меньше · запрос 11,6 мс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4791456"/>
            <a:ext cx="4937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0" y="4791456"/>
            <a:ext cx="73152" cy="868680"/>
          </a:xfrm>
          <a:prstGeom prst="rect">
            <a:avLst/>
          </a:prstGeom>
          <a:solidFill>
            <a:srgbClr val="C9C3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490118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2227"/>
                </a:solidFill>
                <a:latin typeface="Bahnschrift"/>
              </a:rPr>
              <a:t>Spark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4937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spc="100">
                <a:solidFill>
                  <a:srgbClr val="5B636E"/>
                </a:solidFill>
                <a:latin typeface="Consolas"/>
              </a:rPr>
              <a:t>ИЗБЫТОЧЕН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529437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36E"/>
                </a:solidFill>
                <a:latin typeface="Arial"/>
              </a:rPr>
              <a:t>данные помещаются на одну машину, обработка разовая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