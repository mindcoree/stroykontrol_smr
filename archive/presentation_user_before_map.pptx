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0" y="1280160"/>
            <a:ext cx="804672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0" b="1">
                <a:solidFill>
                  <a:srgbClr val="2B3037"/>
                </a:solidFill>
                <a:latin typeface="Bahnschrift"/>
              </a:rPr>
              <a:t>0,9 ГБ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2B303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8591A"/>
                </a:solidFill>
                <a:latin typeface="Consolas"/>
              </a:rPr>
              <a:t>КУРСОВОЙ ПРОЕКТ · РК-1 ·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929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Bahnschrift"/>
              </a:rPr>
              <a:t>Автоматизация строительного контроля</a:t>
            </a:r>
          </a:p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Bahnschrift"/>
              </a:rPr>
              <a:t>и управления качеством СМР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9B4A8"/>
                </a:solidFill>
                <a:latin typeface="Arial"/>
              </a:rPr>
              <a:t>Приложение для корпоративной ERP-платформы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10128"/>
            <a:ext cx="1188720" cy="54864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9B4A8"/>
                </a:solidFill>
                <a:latin typeface="Arial"/>
              </a:rPr>
              <a:t>Аналитическая часть: качество данных, EDA и baseline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B9B4A8"/>
                </a:solidFill>
                <a:latin typeface="Arial"/>
              </a:rPr>
              <a:t>pandas  ·  Parquet  ·  DuckDB  ·  scikit-learn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31520" y="493776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Медиханов Тимур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474720" y="493776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ДАТАСЕТ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212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Chicago Building Violations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полный архив с 2006 года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217920" y="493776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ОБЪЁМ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2 032 070 записей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931 МБ в CSV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961120" y="493776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ДАТА АНАЛИЗА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212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09.10.2026</a:t>
            </a:r>
          </a:p>
        </p:txBody>
      </p:sp>
      <p:sp>
        <p:nvSpPr>
          <p:cNvPr id="22" name="Parallelogram 21"/>
          <p:cNvSpPr/>
          <p:nvPr/>
        </p:nvSpPr>
        <p:spPr>
          <a:xfrm>
            <a:off x="-36576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arallelogram 22"/>
          <p:cNvSpPr/>
          <p:nvPr/>
        </p:nvSpPr>
        <p:spPr>
          <a:xfrm>
            <a:off x="-365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arallelogram 23"/>
          <p:cNvSpPr/>
          <p:nvPr/>
        </p:nvSpPr>
        <p:spPr>
          <a:xfrm>
            <a:off x="29260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arallelogram 24"/>
          <p:cNvSpPr/>
          <p:nvPr/>
        </p:nvSpPr>
        <p:spPr>
          <a:xfrm>
            <a:off x="62179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arallelogram 25"/>
          <p:cNvSpPr/>
          <p:nvPr/>
        </p:nvSpPr>
        <p:spPr>
          <a:xfrm>
            <a:off x="9509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arallelogram 26"/>
          <p:cNvSpPr/>
          <p:nvPr/>
        </p:nvSpPr>
        <p:spPr>
          <a:xfrm>
            <a:off x="128016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arallelogram 27"/>
          <p:cNvSpPr/>
          <p:nvPr/>
        </p:nvSpPr>
        <p:spPr>
          <a:xfrm>
            <a:off x="160934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arallelogram 28"/>
          <p:cNvSpPr/>
          <p:nvPr/>
        </p:nvSpPr>
        <p:spPr>
          <a:xfrm>
            <a:off x="193852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Parallelogram 29"/>
          <p:cNvSpPr/>
          <p:nvPr/>
        </p:nvSpPr>
        <p:spPr>
          <a:xfrm>
            <a:off x="226771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arallelogram 30"/>
          <p:cNvSpPr/>
          <p:nvPr/>
        </p:nvSpPr>
        <p:spPr>
          <a:xfrm>
            <a:off x="259689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arallelogram 31"/>
          <p:cNvSpPr/>
          <p:nvPr/>
        </p:nvSpPr>
        <p:spPr>
          <a:xfrm>
            <a:off x="292607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arallelogram 32"/>
          <p:cNvSpPr/>
          <p:nvPr/>
        </p:nvSpPr>
        <p:spPr>
          <a:xfrm>
            <a:off x="325526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arallelogram 33"/>
          <p:cNvSpPr/>
          <p:nvPr/>
        </p:nvSpPr>
        <p:spPr>
          <a:xfrm>
            <a:off x="358444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Parallelogram 34"/>
          <p:cNvSpPr/>
          <p:nvPr/>
        </p:nvSpPr>
        <p:spPr>
          <a:xfrm>
            <a:off x="391363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arallelogram 35"/>
          <p:cNvSpPr/>
          <p:nvPr/>
        </p:nvSpPr>
        <p:spPr>
          <a:xfrm>
            <a:off x="424281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arallelogram 36"/>
          <p:cNvSpPr/>
          <p:nvPr/>
        </p:nvSpPr>
        <p:spPr>
          <a:xfrm>
            <a:off x="457200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arallelogram 37"/>
          <p:cNvSpPr/>
          <p:nvPr/>
        </p:nvSpPr>
        <p:spPr>
          <a:xfrm>
            <a:off x="490118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Parallelogram 38"/>
          <p:cNvSpPr/>
          <p:nvPr/>
        </p:nvSpPr>
        <p:spPr>
          <a:xfrm>
            <a:off x="523036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arallelogram 39"/>
          <p:cNvSpPr/>
          <p:nvPr/>
        </p:nvSpPr>
        <p:spPr>
          <a:xfrm>
            <a:off x="555955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Parallelogram 40"/>
          <p:cNvSpPr/>
          <p:nvPr/>
        </p:nvSpPr>
        <p:spPr>
          <a:xfrm>
            <a:off x="588873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Parallelogram 41"/>
          <p:cNvSpPr/>
          <p:nvPr/>
        </p:nvSpPr>
        <p:spPr>
          <a:xfrm>
            <a:off x="621792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Parallelogram 42"/>
          <p:cNvSpPr/>
          <p:nvPr/>
        </p:nvSpPr>
        <p:spPr>
          <a:xfrm>
            <a:off x="654710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rallelogram 43"/>
          <p:cNvSpPr/>
          <p:nvPr/>
        </p:nvSpPr>
        <p:spPr>
          <a:xfrm>
            <a:off x="687628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rallelogram 44"/>
          <p:cNvSpPr/>
          <p:nvPr/>
        </p:nvSpPr>
        <p:spPr>
          <a:xfrm>
            <a:off x="720547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Parallelogram 45"/>
          <p:cNvSpPr/>
          <p:nvPr/>
        </p:nvSpPr>
        <p:spPr>
          <a:xfrm>
            <a:off x="753465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Parallelogram 46"/>
          <p:cNvSpPr/>
          <p:nvPr/>
        </p:nvSpPr>
        <p:spPr>
          <a:xfrm>
            <a:off x="786384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Parallelogram 47"/>
          <p:cNvSpPr/>
          <p:nvPr/>
        </p:nvSpPr>
        <p:spPr>
          <a:xfrm>
            <a:off x="819302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Parallelogram 48"/>
          <p:cNvSpPr/>
          <p:nvPr/>
        </p:nvSpPr>
        <p:spPr>
          <a:xfrm>
            <a:off x="852220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Parallelogram 49"/>
          <p:cNvSpPr/>
          <p:nvPr/>
        </p:nvSpPr>
        <p:spPr>
          <a:xfrm>
            <a:off x="885139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Parallelogram 50"/>
          <p:cNvSpPr/>
          <p:nvPr/>
        </p:nvSpPr>
        <p:spPr>
          <a:xfrm>
            <a:off x="91805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Parallelogram 51"/>
          <p:cNvSpPr/>
          <p:nvPr/>
        </p:nvSpPr>
        <p:spPr>
          <a:xfrm>
            <a:off x="950975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Parallelogram 52"/>
          <p:cNvSpPr/>
          <p:nvPr/>
        </p:nvSpPr>
        <p:spPr>
          <a:xfrm>
            <a:off x="983894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arallelogram 53"/>
          <p:cNvSpPr/>
          <p:nvPr/>
        </p:nvSpPr>
        <p:spPr>
          <a:xfrm>
            <a:off x="1016812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arallelogram 54"/>
          <p:cNvSpPr/>
          <p:nvPr/>
        </p:nvSpPr>
        <p:spPr>
          <a:xfrm>
            <a:off x="1049731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Parallelogram 55"/>
          <p:cNvSpPr/>
          <p:nvPr/>
        </p:nvSpPr>
        <p:spPr>
          <a:xfrm>
            <a:off x="1082649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Parallelogram 56"/>
          <p:cNvSpPr/>
          <p:nvPr/>
        </p:nvSpPr>
        <p:spPr>
          <a:xfrm>
            <a:off x="1115567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Parallelogram 57"/>
          <p:cNvSpPr/>
          <p:nvPr/>
        </p:nvSpPr>
        <p:spPr>
          <a:xfrm>
            <a:off x="1148486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arallelogram 58"/>
          <p:cNvSpPr/>
          <p:nvPr/>
        </p:nvSpPr>
        <p:spPr>
          <a:xfrm>
            <a:off x="1181404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Parallelogram 59"/>
          <p:cNvSpPr/>
          <p:nvPr/>
        </p:nvSpPr>
        <p:spPr>
          <a:xfrm>
            <a:off x="1214323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Parallelogram 60"/>
          <p:cNvSpPr/>
          <p:nvPr/>
        </p:nvSpPr>
        <p:spPr>
          <a:xfrm>
            <a:off x="1247241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01 — ПОСТАНОВКА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Риск инспекции: пользователь и решение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КОНТЕКСТ СТРОЙКОНТРОЛЯ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48840"/>
            <a:ext cx="5577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>Координатор инспекций распределяет внимание между уже запланированными проверками. Модель оценивает вероятность FAILED до осмотра; инспектор подтверждает фактический результат.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>Единица анализа — одна инспекция объекта.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0" y="1828800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1938528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Пользователь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975104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КООРДИНАТОР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33172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Руководитель службы строительного контроля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16352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0" y="2816352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2926080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Решение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962656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ПРИОРИТЕТ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319272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Какие проверки требуют более раннего внимания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803904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83680" y="3803904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80" y="3913632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Результат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950208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ВЕРОЯТНОСТЬ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306824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P(FAILED | служба, категория, дата, координаты)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791456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0" y="4791456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12280" y="4901184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Критерий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937760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TEST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294376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AP ≥ Dummy + 0,05; recall ≥ 0,80; precision ≥ доли FAILED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749039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ЦЕНА ОШИБКИ · УЧЕБНАЯ ГИПОТЕЗА 5:1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105656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591A"/>
                </a:solidFill>
                <a:latin typeface="Bahnschrift"/>
              </a:rPr>
              <a:t>FN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4096512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5 у.е. — пропущенная проблемная проверка; задержка внимания к нарушениям.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846320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227"/>
                </a:solidFill>
                <a:latin typeface="Bahnschrift"/>
              </a:rPr>
              <a:t>FP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84632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1 у.е. — лишнее внимание к успешной проверке; расход времени специалиста.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669280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Стоимость не измерена в деньгах; доступность входных полей до осмотра требует подтверждения.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02 — ЗАДАЧА И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Контекст и структура данных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СПЕЦИФИКА СТРОЙКОНТРОЛЯ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4884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227"/>
                </a:solidFill>
                <a:latin typeface="Arial"/>
              </a:rPr>
              <a:t>Каждая инспекция объекта может содержать несколько записей нарушения. Аналитика объединяет этот поток на уровне проверки и оценивает риск её результата. ERP-приложение — дальнейшая часть проекта; здесь оценивается аналитика.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576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Arial"/>
              </a:rPr>
              <a:t>Инспекция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39" y="376732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36576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65960" y="365760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Arial"/>
              </a:rPr>
              <a:t>Нарушения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76732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39" y="365760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39" y="365760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Arial"/>
              </a:rPr>
              <a:t>Статус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767328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3657600"/>
            <a:ext cx="1051560" cy="685800"/>
          </a:xfrm>
          <a:prstGeom prst="rect">
            <a:avLst/>
          </a:prstGeom>
          <a:solidFill>
            <a:srgbClr val="1E2227"/>
          </a:solidFill>
          <a:ln w="9525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365760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Запись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в ERP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828800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ПАСПОРТ ДАТАСЕТА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1214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Источник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1214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Chicago Data Portal · 22u3-xenr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9360" y="2441448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309360" y="245973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Записей (нарушений)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45973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2 032 070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09360" y="2779776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309360" y="279806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Столбцов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79806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26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09360" y="3118104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309360" y="31363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Период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1363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01.01.2006 – 08.10.2026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09360" y="3456432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309360" y="34747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Объектов (property group)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4747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155 788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09360" y="3794760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309360" y="38130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Типов нарушений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8130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1 574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4133087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309360" y="41513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Инспекций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15137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470 576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09360" y="4471416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309360" y="44897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Целевая метка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489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inspection_status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309360" y="4809744"/>
            <a:ext cx="52120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40080" y="502920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РЕЗУЛЬТАТ ИНСПЕКЦИИ · ДОЛЯ ЗАПИСЕЙ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5321808"/>
            <a:ext cx="7446560" cy="2743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86639" y="5321808"/>
            <a:ext cx="2091092" cy="27432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177732" y="5321808"/>
            <a:ext cx="1372883" cy="274320"/>
          </a:xfrm>
          <a:prstGeom prst="rect">
            <a:avLst/>
          </a:prstGeom>
          <a:solidFill>
            <a:srgbClr val="9A9E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40080" y="5724144"/>
            <a:ext cx="109728" cy="109728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4671" y="5669280"/>
            <a:ext cx="11932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Consolas"/>
              </a:rPr>
              <a:t>FAILED 68,2 %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90572" y="5724144"/>
            <a:ext cx="109728" cy="109728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55164" y="5669280"/>
            <a:ext cx="11932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Consolas"/>
              </a:rPr>
              <a:t>PASSED 19,2 %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41063" y="5724144"/>
            <a:ext cx="109728" cy="109728"/>
          </a:xfrm>
          <a:prstGeom prst="rect">
            <a:avLst/>
          </a:prstGeom>
          <a:solidFill>
            <a:srgbClr val="9A9E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05655" y="5669280"/>
            <a:ext cx="11932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Consolas"/>
              </a:rPr>
              <a:t>CLOSED 12,6 %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03 — МАСШТАБ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От выборки к полному архиву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617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1828800"/>
            <a:ext cx="4617720" cy="73152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19" y="210312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1E2227"/>
                </a:solidFill>
                <a:latin typeface="Consolas"/>
              </a:rPr>
              <a:t>БЫЛО · ВЫБОРКА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254203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записей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542032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111 602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19" y="2926079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60119" y="307238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размер 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072384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32,62 МБ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0119" y="3456432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960119" y="360273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столбцов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602736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0119" y="3986784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960119" y="4133087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период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133087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01.01.2021 – 24.01.2023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0119" y="4517136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3" name="Rectangle 32"/>
          <p:cNvSpPr/>
          <p:nvPr/>
        </p:nvSpPr>
        <p:spPr>
          <a:xfrm>
            <a:off x="6903720" y="1828800"/>
            <a:ext cx="4617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3720" y="1828800"/>
            <a:ext cx="4617720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23759" y="210312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СТАЛО · ПОЛНЫЙ АРХИВ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59" y="254203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записей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542032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2 032 070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23759" y="2926079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7223759" y="307238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размер 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072384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931,34 МБ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23759" y="3456432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7223759" y="360273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столбцов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602736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223759" y="3986784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7223759" y="4133087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период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133087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01.01.2006 – 08.10.2026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23759" y="4517136"/>
            <a:ext cx="39776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5257800" y="269748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>
                <a:solidFill>
                  <a:srgbClr val="E8591A"/>
                </a:solidFill>
                <a:latin typeface="Bahnschrift"/>
              </a:rPr>
              <a:t>×</a:t>
            </a:r>
            <a:r>
              <a:rPr sz="4400" b="1">
                <a:solidFill>
                  <a:srgbClr val="E8591A"/>
                </a:solidFill>
                <a:latin typeface="Bahnschrift"/>
              </a:rPr>
              <a:t>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35204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Consolas"/>
              </a:rPr>
              <a:t>по объёму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227"/>
                </a:solidFill>
                <a:latin typeface="Arial"/>
              </a:rPr>
              <a:t>На 32 МБ разница между инструментами измерялась долями секунды и не могла быть аргументом. На полном архиве те же замеры показывают, где pandas упирается в память и зачем нужны Parquet и DuckDB.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04 — СТРУКТУРА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Слои данных: raw → processes → features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3200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1828800"/>
            <a:ext cx="73152" cy="32461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19" y="2057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591A"/>
                </a:solidFill>
                <a:latin typeface="Consolas"/>
              </a:rPr>
              <a:t>raw/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2514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raw.ipynb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" y="285292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data/raw/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CSV + Parquet ZSTD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19" y="3566160"/>
            <a:ext cx="2606041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60119" y="3675887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E2227"/>
                </a:solidFill>
                <a:latin typeface="Bahnschrift"/>
              </a:rPr>
              <a:t>2 032 070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" y="4434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Arial"/>
              </a:rPr>
              <a:t>строк · 1 строка = 1 нарушение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1546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1828800"/>
            <a:ext cx="3200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80560" y="1828800"/>
            <a:ext cx="73152" cy="32461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0600" y="2057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591A"/>
                </a:solidFill>
                <a:latin typeface="Consolas"/>
              </a:rPr>
              <a:t>processes/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514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processed.ipynb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85292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data/processed/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inspections.parquet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00600" y="3566160"/>
            <a:ext cx="260604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4800600" y="3675887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E2227"/>
                </a:solidFill>
                <a:latin typeface="Bahnschrift"/>
              </a:rPr>
              <a:t>470 576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434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Arial"/>
              </a:rPr>
              <a:t>строк · 1 строка = 1 инспекция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1546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E8591A"/>
                </a:solidFill>
                <a:latin typeface="Arial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1828800"/>
            <a:ext cx="3200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21040" y="1828800"/>
            <a:ext cx="73152" cy="324612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1080" y="2057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591A"/>
                </a:solidFill>
                <a:latin typeface="Consolas"/>
              </a:rPr>
              <a:t>features/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2514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27"/>
                </a:solidFill>
                <a:latin typeface="Consolas"/>
              </a:rPr>
              <a:t>feat.ipynb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85292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data/processed/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model_data.parquet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41080" y="3566160"/>
            <a:ext cx="260604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8641080" y="3675887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E2227"/>
                </a:solidFill>
                <a:latin typeface="Bahnschrift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4434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Arial"/>
              </a:rPr>
              <a:t>входов · цель target_failed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36E"/>
                </a:solidFill>
                <a:latin typeface="Consolas"/>
              </a:rPr>
              <a:t>src/pipeline.py — полный расчёт · notebooks/course_project.ipynb — анализ · src/presentation.py — сборка слайдов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05 — ПРЕДОБРАБОТКА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Что сделано с данными в processes/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320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1828800"/>
            <a:ext cx="17373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ШАГ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828800"/>
            <a:ext cx="49377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ЧТО СДЕЛАНО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828800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ЭФФЕКТ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258568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25856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Дубликаты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2585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Повторы ID → последняя версия по дате изменения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25856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26791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640080" y="2679192"/>
            <a:ext cx="10881360" cy="457200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2715768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271576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Категории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27157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strip + upper; пустые строки → NULL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71576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4 категориальных поля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31363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777240" y="3172968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17296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Даты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1729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Явный разбор; диапазон 2006 — 09.10.2026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17296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0 ошибок разбора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35935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9" name="Rectangle 38"/>
          <p:cNvSpPr/>
          <p:nvPr/>
        </p:nvSpPr>
        <p:spPr>
          <a:xfrm>
            <a:off x="640080" y="3593592"/>
            <a:ext cx="10881360" cy="457200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3630168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363016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Координаты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6301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Пустые / вне рамки → NULL; инспекция сохраняется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63016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2 020 строк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" y="4050791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777240" y="4087368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08736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Агрегация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40873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Группировка по inspection_number; проверка атрибутов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08736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470 576 инспекций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0080" y="45079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640080" y="4507992"/>
            <a:ext cx="10881360" cy="457200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" y="4544568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454456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Дата осмотра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45445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Разные violation_date внутри номера → неоднозначность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454456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41 744 исключений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0080" y="49651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777240" y="5001768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500176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Метка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50017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FAILED / PASSED; остальные статусы исключены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500176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357 763 для модели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0080" y="542239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40080" y="5632704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Consolas"/>
              </a:rPr>
              <a:t>41 744 — неоднозначность даты, а не доказанная ошибка источника. Без противоречий статуса, объекта и службы.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06 — ПРИЗНАКИ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Какие поля доступны до текущей инспекции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ВХОДЫ ПРОСТОЙ МОДЕЛИ · 8 ПОЛЕЙ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94560"/>
            <a:ext cx="5577840" cy="3611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department_bureau — назначенная служба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inspection_category — категория проверки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year — календарный год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month_sin / month_cos — циклический месяц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dayofweek — день недели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latitude / longitude — координаты объекта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1E2227"/>
              </a:solidFill>
              <a:latin typeface="Arial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227"/>
                </a:solidFill>
                <a:latin typeface="Arial"/>
              </a:rPr>
              <a:t>В прежнем notebook было 15 признаков, включая историю результатов. История исключена из baseline: время доступности результатов и порядок проверок одного дня не подтверждены.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0" y="1828800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1938528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Категории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975104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ONE-HOT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33172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Неизвестная категория на тесте → handle_unknown=ignore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16352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0" y="2816352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2926080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Числа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962656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TRAIN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319272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Медиана + индикатор пропуска + StandardScaler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803904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83680" y="3803904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80" y="3913632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Постфактум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950208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ИСКЛЮЧЕНО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306824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n_violations, n_codes, текущий статус, устранение, waived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791456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0" y="4791456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12280" y="4901184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История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937760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СЛЕДУЮЩИЙ ЭТАП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294376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Вернуть после проверки доступности событий во времени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07 — КАЧЕСТВО ДАННЫХ · 1–4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Проверки качества: результат и решение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21031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ПРОВЕРКА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1828800"/>
            <a:ext cx="34747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ИЗМЕРЕННЫЙ РЕЗУЛЬТАТ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828800"/>
            <a:ext cx="44805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РЕШЕНИЕ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5856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1. Структура и типы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2258568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26 полей; ошибки разбора дат: 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258568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Явные типы, строгий CSV-парсер; потеря строк не допускается.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93522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935224"/>
            <a:ext cx="10881360" cy="713232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9718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2. Полнота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79" y="29718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Без ключей: 0; без координат: 2 020.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7180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Пропуски считаются по всем полям; координаты импутируются внутри train.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64845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77240" y="368503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3. Уникальность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79" y="3685032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Повторы ID: 0; полные повторы: 0.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685032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ID нарушения и номер инспекции имеют разную гранулярность.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436168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4361688"/>
            <a:ext cx="10881360" cy="713232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39826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4. Допустимые значения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79" y="4398264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Некорректных дат: 0; координат вне рамки: 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398264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Даты 2006–09.10.2026; грубая рамка 41.6–42.1 / −88–−87.5.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50749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40080" y="548640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Стандартный чек-лист: подробный перечень преподавателя не предоставлен.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Полный raw-аудит без подвыборки; ошибки чтения строк не игнорируются.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07 — КАЧЕСТВО ДАННЫХ · 5–8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Проверки качества: результат и решение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21031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ПРОВЕРКА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1828800"/>
            <a:ext cx="34747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ИЗМЕРЕННЫЙ РЕЗУЛЬТАТ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828800"/>
            <a:ext cx="44805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РЕШЕНИЕ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5856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5. Согласованность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2258568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Инспекций с разными датами: 41 744; обратных дат статуса: 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258568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Проверка единства объекта, даты, службы, категории и статуса внутри инспекции.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93522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935224"/>
            <a:ext cx="10881360" cy="713232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9718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6. Целевая метка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79" y="29718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Бинарная выборка: 357 763; FAILED: 73.7%.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7180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FAILED=1, PASSED=0; остальные статусы и конфликты исключены.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64845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77240" y="368503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7. Репрезентативность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79" y="3685032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Один город; 155 788 групп объектов; 2026 неполный.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685032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Архив нарушений не является полным реестром всех осмотров или СМР.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436168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4361688"/>
            <a:ext cx="10881360" cy="713232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39826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Bahnschrift"/>
              </a:rPr>
              <a:t>8. Утечка и время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79" y="4398264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227"/>
                </a:solidFill>
                <a:latin typeface="Consolas"/>
              </a:rPr>
              <a:t>Train ≤2023; validation 2024; test 2025; 8 исходных признаков.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398264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Постфактум поля исключены; версии полей на момент осмотра недоступны.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50749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40080" y="548640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Стандартный чек-лист: подробный перечень преподавателя не предоставлен.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Полный raw-аудит без подвыборки; ошибки чтения строк не игнорируются.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1/7 · ПОЛНОТА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Пропуски в исходном архиве нарушений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ДОЛЯ NULL И ПУСТЫХ СТРОК · RAW ·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240280"/>
            <a:ext cx="2743200" cy="240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ssa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3042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20440" y="2304288"/>
            <a:ext cx="3463161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79" y="224028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80,58 %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83180"/>
            <a:ext cx="2743200" cy="240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violation_status_date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6471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20440" y="2647188"/>
            <a:ext cx="2469632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79" y="258318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57,46 %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926080"/>
            <a:ext cx="2743200" cy="240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violation_location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29900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520440" y="2990088"/>
            <a:ext cx="2180578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79" y="292608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50,74 %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268980"/>
            <a:ext cx="2743200" cy="240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violation_inspector_comments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3329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20440" y="3332988"/>
            <a:ext cx="403709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79" y="326898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9,39 %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611880"/>
            <a:ext cx="2743200" cy="240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violation_ordinance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36758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520440" y="3675888"/>
            <a:ext cx="125210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55279" y="361188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2,91 %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954780"/>
            <a:ext cx="2743200" cy="240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street_type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40187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520440" y="4018788"/>
            <a:ext cx="33851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55279" y="395478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0,79 %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297680"/>
            <a:ext cx="2743200" cy="240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violation_description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43616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520440" y="4361688"/>
            <a:ext cx="31231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55279" y="429768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0,73 %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640580"/>
            <a:ext cx="2743200" cy="240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longitude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4704588"/>
            <a:ext cx="4297680" cy="161163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520440" y="4704588"/>
            <a:ext cx="8229" cy="161163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55279" y="464058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0,10 %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80,6 %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пропусков в поле SSA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Не используется в baseline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Координаты: медиана train + индикатор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Даты статуса и комментарии исключены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2578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Максимальная доля пропусков — 80.6% в ssa. Даты статуса, комментарии и SSA не включены в модель; координаты заполняются медианой только по train с индикатором пропуска.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2/7 · ВРЕМЯ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Количество инспекций по годам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ОДНА ИНСПЕКЦИЯ = ОДИН НОМЕР · 2006–2026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475487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0080" y="460857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414908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400278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11 027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354330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339699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22 055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293751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0080" y="279120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33 083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233172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40080" y="218541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44 111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49907" y="2591344"/>
            <a:ext cx="255161" cy="216353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87365" y="2984279"/>
            <a:ext cx="255161" cy="17706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46217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4822" y="3412757"/>
            <a:ext cx="255161" cy="134212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83674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2279" y="3238454"/>
            <a:ext cx="255161" cy="151642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21131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99736" y="3341783"/>
            <a:ext cx="255161" cy="141309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58588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37193" y="3250704"/>
            <a:ext cx="255161" cy="150417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96045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74650" y="3502407"/>
            <a:ext cx="255161" cy="125247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33502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12108" y="3628753"/>
            <a:ext cx="255161" cy="112612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70960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49565" y="3424293"/>
            <a:ext cx="255161" cy="133058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08417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87022" y="3250924"/>
            <a:ext cx="255161" cy="150395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45874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24479" y="3120788"/>
            <a:ext cx="255161" cy="1634091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83331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61936" y="3165503"/>
            <a:ext cx="255161" cy="158937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20788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99393" y="3217360"/>
            <a:ext cx="255161" cy="1537519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58245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36850" y="3308439"/>
            <a:ext cx="255161" cy="144644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95702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74308" y="4028501"/>
            <a:ext cx="255161" cy="726378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3160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11765" y="3981039"/>
            <a:ext cx="255161" cy="77384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70617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222" y="4015591"/>
            <a:ext cx="255161" cy="739288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08074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86679" y="4102111"/>
            <a:ext cx="255161" cy="652768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45531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24136" y="4071953"/>
            <a:ext cx="255161" cy="68292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82988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61593" y="4080742"/>
            <a:ext cx="255161" cy="67413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20445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99050" y="4284598"/>
            <a:ext cx="255161" cy="470281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57902" y="4864607"/>
            <a:ext cx="33745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2026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39 385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максимум: 2006 год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2026 — неполный год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Объём зависит от регистрации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Test модели: полный 2025 год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52578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Максимум в архиве — 2006 год: 39,385 инспекций. 2026 год неполный и не используется как тест. Изменение объёма отражает и практику регистрации, поэтому не доказывает изменение качества зданий.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3/7 · ЦЕЛЬ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Статусы на уровне инспекции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ДО ФИЛЬТРАЦИИ СТАТУСОВ И НЕОДНОЗНАЧНЫХ ДАТ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475487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0080" y="460857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414908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400278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82 794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354330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339699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165 589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293751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0080" y="279120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248 384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233172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40080" y="218541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331 179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49907" y="2591344"/>
            <a:ext cx="1335024" cy="2163535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4864607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FAILED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2317024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591A"/>
                </a:solidFill>
                <a:latin typeface="Consolas"/>
              </a:rPr>
              <a:t>295 696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7228" y="4008665"/>
            <a:ext cx="1335024" cy="746214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26080" y="4864607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734345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101 987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4548" y="4222015"/>
            <a:ext cx="1335024" cy="532864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43400" y="4864607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CLOSED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3947695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72 828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1868" y="4754433"/>
            <a:ext cx="1335024" cy="44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20" y="4864607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480113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61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19188" y="4754850"/>
            <a:ext cx="1335024" cy="29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78040" y="4864607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UNKNOWN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448053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73,7 %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FAILED в бинарной выборке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FAILED=1; PASSED=0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CLOSED / HOLD / UNKNOWN исключены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Accuracy дополняется метриками классов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2578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В бинарной выборке FAILED составляет 73.7%. CLOSED, HOLD и UNKNOWN исключены: отсутствие FAILED не означает PASSED. Accuracy без метрик классов может скрывать пропуски проблемных проверок.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4/7 · ГРАНУЛЯРНОСТЬ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Сколько нарушений приходится на инспекцию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ГРУППЫ ПО ЧИСЛУ ЗАПИСЕЙ НАРУШЕНИЯ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475487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0080" y="460857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4149089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400278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39 130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354330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339699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78 261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293751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0080" y="279120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117 391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2331720"/>
            <a:ext cx="777240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40080" y="218541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156 522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49907" y="2591344"/>
            <a:ext cx="1098804" cy="216353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4864607"/>
            <a:ext cx="11811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2317024"/>
            <a:ext cx="118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139 752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31007" y="3461947"/>
            <a:ext cx="1098804" cy="129293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89860" y="4864607"/>
            <a:ext cx="11811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89860" y="3187627"/>
            <a:ext cx="118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83 516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12108" y="2855562"/>
            <a:ext cx="1098804" cy="189931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70960" y="4864607"/>
            <a:ext cx="11811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3–5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70960" y="2581242"/>
            <a:ext cx="118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122 685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93208" y="3412454"/>
            <a:ext cx="1098804" cy="134242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52060" y="4864607"/>
            <a:ext cx="11811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6–10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2060" y="3138134"/>
            <a:ext cx="118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86 713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4308" y="4274682"/>
            <a:ext cx="1098804" cy="48019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3160" y="4864607"/>
            <a:ext cx="11811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11–20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3160" y="4000362"/>
            <a:ext cx="118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31 018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5408" y="4648183"/>
            <a:ext cx="1098804" cy="10669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14260" y="4864607"/>
            <a:ext cx="11811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&gt;20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4260" y="4373863"/>
            <a:ext cx="118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227"/>
                </a:solidFill>
                <a:latin typeface="Consolas"/>
              </a:rPr>
              <a:t>6 892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записи: медиана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95-й перцентиль — 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Максимум — 538 записей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Текущие нарушения используются только в EDA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2578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Медиана — 3 записи, 95-й перцентиль — 13, максимум — 538. Доля FAILED по строкам перевзвешивает инспекции с большим числом нарушений. Число нарушений текущей проверки используется только в EDA.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5/7 · СЛУЖБЫ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Доля FAILED в десяти крупнейших службах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БИНАРНАЯ ВЫБОРКА · 95 % ИНТЕРВАЛЫ УИЛСОНА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212848"/>
            <a:ext cx="2743200" cy="201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SIGNS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276856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20440" y="2276856"/>
            <a:ext cx="4010300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79" y="2212848"/>
            <a:ext cx="914400" cy="207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93,3 %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00884"/>
            <a:ext cx="2743200" cy="201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CONSERVATION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564891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20440" y="2564891"/>
            <a:ext cx="3753129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79" y="2500884"/>
            <a:ext cx="914400" cy="207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87,3 %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788920"/>
            <a:ext cx="2743200" cy="201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NEW CONSTRUCTION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2852927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520440" y="2852927"/>
            <a:ext cx="3598096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79" y="2788920"/>
            <a:ext cx="914400" cy="207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83,7 %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076956"/>
            <a:ext cx="2743200" cy="201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SPECIAL TASK FORCE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140964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20440" y="3140964"/>
            <a:ext cx="2745581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79" y="3076956"/>
            <a:ext cx="914400" cy="207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63,9 %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364991"/>
            <a:ext cx="2743200" cy="201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SPECIAL INSPECTION PROGRAM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3428999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520440" y="3428999"/>
            <a:ext cx="2578787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55279" y="3364991"/>
            <a:ext cx="914400" cy="207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60,0 %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653028"/>
            <a:ext cx="2743200" cy="201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REFRIGERATION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3717036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520440" y="3717036"/>
            <a:ext cx="2562073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55279" y="3653028"/>
            <a:ext cx="914400" cy="207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59,6 %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941064"/>
            <a:ext cx="2743200" cy="201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ELEVATOR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4005072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520440" y="4005072"/>
            <a:ext cx="2381995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55279" y="3941064"/>
            <a:ext cx="914400" cy="207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55,4 %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229100"/>
            <a:ext cx="2743200" cy="201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PLUMBING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4293108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520440" y="4293108"/>
            <a:ext cx="2279455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55279" y="4229100"/>
            <a:ext cx="914400" cy="207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53,0 %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517136"/>
            <a:ext cx="2743200" cy="201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ELECTRICAL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20440" y="4581144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520440" y="4581144"/>
            <a:ext cx="2216089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55279" y="4517136"/>
            <a:ext cx="914400" cy="207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51,6 %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805172"/>
            <a:ext cx="2743200" cy="201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VENTILATION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0440" y="4869180"/>
            <a:ext cx="4297680" cy="135376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520440" y="4869180"/>
            <a:ext cx="1371501" cy="135376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55279" y="4805172"/>
            <a:ext cx="914400" cy="207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1A"/>
                </a:solidFill>
                <a:latin typeface="Consolas"/>
              </a:rPr>
              <a:t>31,9 %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507641" y="2345436"/>
            <a:ext cx="44594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7040880" y="2116836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n=8 913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267345" y="2633472"/>
            <a:ext cx="12387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7040880" y="2404872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n=204 683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093225" y="2921508"/>
            <a:ext cx="49905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7040880" y="2692908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n=15 530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226365" y="3209544"/>
            <a:ext cx="78876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7040880" y="2980944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n=10 522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056849" y="3497579"/>
            <a:ext cx="84411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7040880" y="3268979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n=9 556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050376" y="3785615"/>
            <a:ext cx="64083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7040880" y="3557015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n=16 635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76169" y="4073652"/>
            <a:ext cx="52461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7040880" y="3845052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n=25 474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767495" y="4361688"/>
            <a:ext cx="64740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74" name="TextBox 73"/>
          <p:cNvSpPr txBox="1"/>
          <p:nvPr/>
        </p:nvSpPr>
        <p:spPr>
          <a:xfrm>
            <a:off x="7040880" y="4133087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n=16 863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701448" y="4649723"/>
            <a:ext cx="70125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7040880" y="4421123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n=14 411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865196" y="4937759"/>
            <a:ext cx="53770" cy="0"/>
          </a:xfrm>
          <a:prstGeom prst="line">
            <a:avLst/>
          </a:prstGeom>
          <a:ln w="6350">
            <a:solidFill>
              <a:srgbClr val="1E2227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7040880" y="4709159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36E"/>
                </a:solidFill>
                <a:latin typeface="Consolas"/>
              </a:rPr>
              <a:t>n=21 327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591A"/>
                </a:solidFill>
                <a:latin typeface="Bahnschrift"/>
              </a:rPr>
              <a:t>31–93 %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разброс долей FAILED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Процедуры учёта различаются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Интервалы описательные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Повторы объектов не учитываются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530352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227"/>
                </a:solidFill>
                <a:latin typeface="Arial"/>
              </a:rPr>
              <a:t>Среди 10 крупнейших служб доля FAILED меняется от 31.9% до 93.3%. Служба — кандидат в признаки, но различие может отражать процедуры учёта. Интервалы описательные и не учитывают зависимость повторных инспекций одного объекта.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6/7 · СЕЗОННОСТЬ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Месяц: объём проверок и доля FAILED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ЧИСЛО ИНСПЕКЦИЙ · 2006–2025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82880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ДОЛЯ FAILED · 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4800600"/>
            <a:ext cx="370332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548640" y="465429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4206240"/>
            <a:ext cx="370332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48640" y="405993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9 157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3611880"/>
            <a:ext cx="370332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48640" y="346557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18 314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3017520"/>
            <a:ext cx="370332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48640" y="287121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27 471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2423160"/>
            <a:ext cx="370332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48640" y="227685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36 628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8468" y="2861572"/>
            <a:ext cx="169163" cy="193902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17320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09928" y="3037794"/>
            <a:ext cx="169163" cy="176280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68780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1388" y="2677885"/>
            <a:ext cx="169163" cy="2122714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240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12848" y="2830287"/>
            <a:ext cx="169163" cy="197031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71700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4308" y="2806920"/>
            <a:ext cx="169163" cy="1993679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3160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15768" y="2730784"/>
            <a:ext cx="169163" cy="206981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74620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67228" y="2896816"/>
            <a:ext cx="169163" cy="1903783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26080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7" y="2731563"/>
            <a:ext cx="169163" cy="2069036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177539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0148" y="2964384"/>
            <a:ext cx="169163" cy="1836215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29000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21607" y="2913692"/>
            <a:ext cx="169163" cy="188690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80459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3068" y="3206681"/>
            <a:ext cx="169163" cy="1593918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31920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24527" y="3244522"/>
            <a:ext cx="169163" cy="1556077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83379" y="4910328"/>
            <a:ext cx="2514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36E"/>
                </a:solidFill>
                <a:latin typeface="Consolas"/>
              </a:rPr>
              <a:t>12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166360" y="4800600"/>
            <a:ext cx="33832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4754880" y="4690872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166360" y="4206240"/>
            <a:ext cx="33832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4754880" y="4096511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166360" y="3611880"/>
            <a:ext cx="33832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4754880" y="3502152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50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166360" y="3017520"/>
            <a:ext cx="33832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4754880" y="2907791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75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166360" y="2423160"/>
            <a:ext cx="338328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4754880" y="2313432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34356" y="2993752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56632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1926" y="3012937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66"/>
          <p:cNvCxnSpPr/>
          <p:nvPr/>
        </p:nvCxnSpPr>
        <p:spPr>
          <a:xfrm>
            <a:off x="5166360" y="3025756"/>
            <a:ext cx="307570" cy="19185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364202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49497" y="3018301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" name="Connector 69"/>
          <p:cNvCxnSpPr/>
          <p:nvPr/>
        </p:nvCxnSpPr>
        <p:spPr>
          <a:xfrm>
            <a:off x="5473930" y="3044941"/>
            <a:ext cx="307571" cy="5364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671773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57068" y="3067202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5781501" y="3050305"/>
            <a:ext cx="307571" cy="48901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979344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64639" y="3031646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" name="Connector 75"/>
          <p:cNvCxnSpPr/>
          <p:nvPr/>
        </p:nvCxnSpPr>
        <p:spPr>
          <a:xfrm flipV="1">
            <a:off x="6089072" y="3063650"/>
            <a:ext cx="307571" cy="35556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286915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72210" y="3034926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9" name="Connector 78"/>
          <p:cNvCxnSpPr/>
          <p:nvPr/>
        </p:nvCxnSpPr>
        <p:spPr>
          <a:xfrm>
            <a:off x="6396643" y="3063650"/>
            <a:ext cx="307571" cy="3280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594486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79781" y="3037817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2" name="Connector 81"/>
          <p:cNvCxnSpPr/>
          <p:nvPr/>
        </p:nvCxnSpPr>
        <p:spPr>
          <a:xfrm>
            <a:off x="6704214" y="3066930"/>
            <a:ext cx="307571" cy="2891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902057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87352" y="3025771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5" name="Connector 84"/>
          <p:cNvCxnSpPr/>
          <p:nvPr/>
        </p:nvCxnSpPr>
        <p:spPr>
          <a:xfrm flipV="1">
            <a:off x="7011785" y="3057775"/>
            <a:ext cx="307571" cy="12046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209628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94923" y="3014635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8" name="Connector 87"/>
          <p:cNvCxnSpPr/>
          <p:nvPr/>
        </p:nvCxnSpPr>
        <p:spPr>
          <a:xfrm flipV="1">
            <a:off x="7319356" y="3046639"/>
            <a:ext cx="307571" cy="11136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517199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02494" y="3019311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1" name="Connector 90"/>
          <p:cNvCxnSpPr/>
          <p:nvPr/>
        </p:nvCxnSpPr>
        <p:spPr>
          <a:xfrm>
            <a:off x="7626927" y="3046639"/>
            <a:ext cx="307571" cy="4676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824770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10065" y="3009307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" name="Connector 93"/>
          <p:cNvCxnSpPr/>
          <p:nvPr/>
        </p:nvCxnSpPr>
        <p:spPr>
          <a:xfrm flipV="1">
            <a:off x="7934498" y="3041311"/>
            <a:ext cx="307571" cy="10004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132341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17636" y="3028009"/>
            <a:ext cx="64008" cy="64008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/>
          <p:cNvCxnSpPr/>
          <p:nvPr/>
        </p:nvCxnSpPr>
        <p:spPr>
          <a:xfrm>
            <a:off x="8242069" y="3041311"/>
            <a:ext cx="307571" cy="18702"/>
          </a:xfrm>
          <a:prstGeom prst="line">
            <a:avLst/>
          </a:prstGeom>
          <a:ln w="19050">
            <a:solidFill>
              <a:srgbClr val="E85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8439912" y="49377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6E"/>
                </a:solidFill>
                <a:latin typeface="Consolas"/>
              </a:rPr>
              <a:t>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591A"/>
                </a:solidFill>
                <a:latin typeface="Bahnschrift"/>
              </a:rPr>
              <a:t>72–75 %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месячная доля FAILED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Только полные годы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Месяц кодируется sin / cos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Сезон смешан с составом служб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5321808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В полных годах месячная доля FAILED составляет 71.6%–74.7%. Месяц кодируется циклически; это ассоциация, смешанная с составом служб и лет, а не причинный эффект сезона.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08 — EDA · 7/7 · ГЕОГРАФИЯ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Где концентрируются зарегистрированные проверки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ПЛОТНОСТЬ ИНСПЕКЦИЙ · ЛОГАРИФМИЧЕСКАЯ ШКАЛА</a:t>
            </a:r>
          </a:p>
        </p:txBody>
      </p:sp>
      <p:pic>
        <p:nvPicPr>
          <p:cNvPr id="19" name="Picture 18" descr="presentation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29968"/>
            <a:ext cx="8183879" cy="356150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502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инспекции без координат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Карта показывает наблюдение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Нет нормировки на число зданий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Нельзя оценить опасность района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560" y="551383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1E2227"/>
                </a:solidFill>
                <a:latin typeface="Arial"/>
              </a:rPr>
              <a:t>У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502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инспекций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нет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пригодных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координат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. Карта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показывает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интенсивность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наблюдения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в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архиве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без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нормировки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на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число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зданий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. География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может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помочь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ранжированию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но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не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позволяет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объявить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район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более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1E2227"/>
                </a:solidFill>
                <a:latin typeface="Arial"/>
              </a:rPr>
              <a:t>опасным</a:t>
            </a:r>
            <a:r>
              <a:rPr sz="1250" b="0" dirty="0">
                <a:solidFill>
                  <a:srgbClr val="1E222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09 — BASELINE · ПРОТОКОЛ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Временное разделение и обучение модели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554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ВЫБОРКА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1828800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ПЕРИОД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28800"/>
            <a:ext cx="24688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ИНСПЕКЦИИ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828800"/>
            <a:ext cx="21031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FAILED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258568"/>
            <a:ext cx="155448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2258568"/>
            <a:ext cx="365760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2006-01-01 — 2023-12-31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258568"/>
            <a:ext cx="246888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328 294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258568"/>
            <a:ext cx="210312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73,0 %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275234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640080" y="2752344"/>
            <a:ext cx="10881360" cy="530352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2788920"/>
            <a:ext cx="155448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2788920"/>
            <a:ext cx="365760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2024-01-01 — 2024-12-31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788920"/>
            <a:ext cx="246888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10 594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788920"/>
            <a:ext cx="210312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76,9 %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328269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777240" y="3319272"/>
            <a:ext cx="155448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3319272"/>
            <a:ext cx="365760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2025-01-01 — 2025-12-31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319272"/>
            <a:ext cx="246888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10 910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319272"/>
            <a:ext cx="210312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79,4 %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381304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9" name="Rectangle 38"/>
          <p:cNvSpPr/>
          <p:nvPr/>
        </p:nvSpPr>
        <p:spPr>
          <a:xfrm>
            <a:off x="640080" y="4005072"/>
            <a:ext cx="5212080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" y="4005072"/>
            <a:ext cx="73152" cy="15544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4206240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E8591A"/>
                </a:solidFill>
                <a:latin typeface="Consolas"/>
              </a:rPr>
              <a:t>DUMMYCLASSIFIER · STRATEGY=PRIOR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5720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Одна вероятность для всех инспекций — частота FAILED по train. Показывает, что можно получить без использования признаков.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005072"/>
            <a:ext cx="5212080" cy="1554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4005072"/>
            <a:ext cx="73152" cy="15544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4206240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E8591A"/>
                </a:solidFill>
                <a:latin typeface="Consolas"/>
              </a:rPr>
              <a:t>LOGISTIC REGRESSION · L2 · C=1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5720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Pipeline: OneHotEncoder + медиана + StandardScaler. lbfgs; max_iter=2000. Все преобразования обучаются только на train.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715000"/>
            <a:ext cx="108813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Consolas"/>
              </a:rPr>
              <a:t>Порог: минимум 5×FN+FP на 2024. Test 2025 не участвует в настройке; 2026 неполный и исключён.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09 — BASELINE · МЕТРИКИ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Две простые модели: проверка на 2025 годе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4572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МЕТРИКА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828800"/>
            <a:ext cx="26517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DUMMY PRIOR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828800"/>
            <a:ext cx="28346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LOGISTIC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58568"/>
            <a:ext cx="457200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Average 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258568"/>
            <a:ext cx="265176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0,794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258568"/>
            <a:ext cx="283464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91A"/>
                </a:solidFill>
                <a:latin typeface="Consolas"/>
              </a:rPr>
              <a:t>0,928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59689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596896"/>
            <a:ext cx="10881360" cy="374904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633472"/>
            <a:ext cx="457200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ROC-AUC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2633472"/>
            <a:ext cx="265176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633472"/>
            <a:ext cx="283464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91A"/>
                </a:solidFill>
                <a:latin typeface="Consolas"/>
              </a:rPr>
              <a:t>0,810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297180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77240" y="3008376"/>
            <a:ext cx="457200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Precision FAILED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3008376"/>
            <a:ext cx="265176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0,794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008376"/>
            <a:ext cx="283464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0,814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34670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3346704"/>
            <a:ext cx="10881360" cy="374904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3383280"/>
            <a:ext cx="457200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Recall FAILED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3383280"/>
            <a:ext cx="265176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1,000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383280"/>
            <a:ext cx="283464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0,998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372160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777240" y="3758184"/>
            <a:ext cx="457200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Balanced accuracy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3758184"/>
            <a:ext cx="265176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758184"/>
            <a:ext cx="283464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0,561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409651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640080" y="4096512"/>
            <a:ext cx="10881360" cy="374904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4133088"/>
            <a:ext cx="457200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F1 FAILED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4133088"/>
            <a:ext cx="265176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0,885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133088"/>
            <a:ext cx="283464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0,897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447141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777240" y="4507992"/>
            <a:ext cx="457200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Brier (меньше лучше)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60" y="4507992"/>
            <a:ext cx="265176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0,168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4507992"/>
            <a:ext cx="283464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0,119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" y="48463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3" name="Rectangle 52"/>
          <p:cNvSpPr/>
          <p:nvPr/>
        </p:nvSpPr>
        <p:spPr>
          <a:xfrm>
            <a:off x="640080" y="4846320"/>
            <a:ext cx="10881360" cy="374904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240" y="4882896"/>
            <a:ext cx="457200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Стоимость (5×FN+FP)/N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3560" y="4882896"/>
            <a:ext cx="265176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227"/>
                </a:solidFill>
                <a:latin typeface="Consolas"/>
              </a:rPr>
              <a:t>0,206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4882896"/>
            <a:ext cx="2834640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91A"/>
                </a:solidFill>
                <a:latin typeface="Consolas"/>
              </a:rPr>
              <a:t>0,190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0080" y="522122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40080" y="5440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Test: 10 910 инспекций; FAILED 79,4 %. Порог: 0,235.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AP — average_precision_score, без трапецеидальной интерполяции PR-кривой.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09 — BASELINE · ОШИБКИ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Что стоит за высоким recall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DUMMY PRIOR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2860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36E"/>
                </a:solidFill>
                <a:latin typeface="Consolas"/>
              </a:rPr>
              <a:t>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2860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36E"/>
                </a:solidFill>
                <a:latin typeface="Consolas"/>
              </a:rPr>
              <a:t>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685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PASSED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697480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269748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697480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51760" y="269748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2 249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630168"/>
            <a:ext cx="685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FAILED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630168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71600" y="3630168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630168"/>
            <a:ext cx="1188720" cy="822960"/>
          </a:xfrm>
          <a:prstGeom prst="rect">
            <a:avLst/>
          </a:prstGeom>
          <a:solidFill>
            <a:srgbClr val="E8591A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51760" y="3630168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Bahnschrift"/>
              </a:rPr>
              <a:t>8 661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7548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строки — факт; столбцы — прогноз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1828800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5B636E"/>
                </a:solidFill>
                <a:latin typeface="Consolas"/>
              </a:rPr>
              <a:t>LOGISTIC REGRESSION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2860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36E"/>
                </a:solidFill>
                <a:latin typeface="Consolas"/>
              </a:rPr>
              <a:t>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2860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36E"/>
                </a:solidFill>
                <a:latin typeface="Consolas"/>
              </a:rPr>
              <a:t>FAILED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2697480"/>
            <a:ext cx="685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PASSED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2697480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77840" y="269748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281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2697480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0" y="269748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1 968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630168"/>
            <a:ext cx="685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FAILED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3630168"/>
            <a:ext cx="11887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77840" y="3630168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2227"/>
                </a:solidFill>
                <a:latin typeface="Bahnschrift"/>
              </a:rPr>
              <a:t>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3630168"/>
            <a:ext cx="1188720" cy="822960"/>
          </a:xfrm>
          <a:prstGeom prst="rect">
            <a:avLst/>
          </a:prstGeom>
          <a:solidFill>
            <a:srgbClr val="E8591A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0" y="3630168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Bahnschrift"/>
              </a:rPr>
              <a:t>8 641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47548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36E"/>
                </a:solidFill>
                <a:latin typeface="Consolas"/>
              </a:rPr>
              <a:t>строки — факт; столбцы — прогноз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98280" y="1828800"/>
            <a:ext cx="2423160" cy="384048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591A"/>
                </a:solidFill>
                <a:latin typeface="Bahnschrift"/>
              </a:rPr>
              <a:t>97,2 %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278892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проверок получают приоритет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0" y="3593592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09760" y="353872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FN: 20; FP: 1 968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4160520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09760" y="4105656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Ложные тревоги у PASSED: 87,5 %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4727448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09760" y="4672584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B4A8"/>
                </a:solidFill>
                <a:latin typeface="Arial"/>
              </a:rPr>
              <a:t>Условная стоимость ниже Dummy на 8,0 %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376672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Высокий recall достигнут широкой очередью. Учебный критерий выполнен, но экономия внимания ещё не доказана: нужен лимит очереди и precision@K.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10 — ДАЛЬНЕЙШАЯ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План после первого рубежного контроля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554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ЭТАП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1828800"/>
            <a:ext cx="44805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828800"/>
            <a:ext cx="40233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РЕЗУЛЬТАТ / КРИТЕРИЙ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58568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8–9 недели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258568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Проверить FAILED/PASSED, реальную дату осмотра и доступность метаданных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258568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Словарь полей; подтверждённый момент прогноза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95351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953512"/>
            <a:ext cx="10881360" cy="731520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990088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10–11 недели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2990088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Получить полный журнал инспекций и локальную выборку СМР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990088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Включены проверки без нарушений; понятна разметка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68503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77240" y="3721608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12–13 недели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721608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Rolling backtest; тест новых объектов; абляция служб; калибровка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721608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Устойчивые метрики по времени и подгруппам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44165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4416552"/>
            <a:ext cx="10881360" cy="731520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453128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227"/>
                </a:solidFill>
                <a:latin typeface="Consolas"/>
              </a:rPr>
              <a:t>14–15 недели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453128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Согласовать цены ошибок и лимит очереди; сравнить простое дерево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453128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Рабочий порог; precision@K; сравнение с baseline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514807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40080" y="55138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Разработка, реализация ERP и внедрение — следующие работы проекта, вне текущей аналитической сдачи.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10 — РИСКИ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Ограничения результата и способы их уменьшить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393192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4572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РИСК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828800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УРОВЕНЬ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828800"/>
            <a:ext cx="42062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00">
                <a:solidFill>
                  <a:srgbClr val="FFFFFF"/>
                </a:solidFill>
                <a:latin typeface="Consolas"/>
              </a:rPr>
              <a:t>КАК УМЕНЬШИТЬ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58568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Архив нарушений не охватывает все инспекции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258568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1A"/>
                </a:solidFill>
                <a:latin typeface="Consolas"/>
              </a:rPr>
              <a:t>ВЫСОКИЙ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258568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Получить полный журнал и знаменатель проверок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71576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715768"/>
            <a:ext cx="10881360" cy="493776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752344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Чикаго отличается от локальных процессов СМР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275234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1A"/>
                </a:solidFill>
                <a:latin typeface="Consolas"/>
              </a:rPr>
              <a:t>ВЫСОКИЙ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752344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Независимая проверка на локальных данных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20954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77240" y="3246120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Исторические статусы и поля могут меняться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3246120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591A"/>
                </a:solidFill>
                <a:latin typeface="Consolas"/>
              </a:rPr>
              <a:t>ВЫСОКИЙ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246120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Версии данных на момент принятия решения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7033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3703320"/>
            <a:ext cx="10881360" cy="493776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3739896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Разные даты внутри inspection_number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3739896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227"/>
                </a:solidFill>
                <a:latin typeface="Consolas"/>
              </a:rPr>
              <a:t>СРЕДНИЙ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739896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Реальная дата осмотра; анализ чувствительности отбора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419709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777240" y="4233672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Повторы объектов; дрейф служб и категорий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233672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227"/>
                </a:solidFill>
                <a:latin typeface="Consolas"/>
              </a:rPr>
              <a:t>СРЕДНИЙ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233672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Тест новых объектов; оценки по годам и службам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469087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640080" y="4690872"/>
            <a:ext cx="10881360" cy="493776"/>
          </a:xfrm>
          <a:prstGeom prst="rect">
            <a:avLst/>
          </a:prstGeom>
          <a:solidFill>
            <a:srgbClr val="E8E4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4727448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227"/>
                </a:solidFill>
                <a:latin typeface="Arial"/>
              </a:rPr>
              <a:t>Цена ошибок 5:1 пока условная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4727448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2227"/>
                </a:solidFill>
                <a:latin typeface="Consolas"/>
              </a:rPr>
              <a:t>СРЕДНИЙ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4727448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227"/>
                </a:solidFill>
                <a:latin typeface="Arial"/>
              </a:rPr>
              <a:t>Согласование; сценарии 1:1 / 3:1 / 5:1 / 10:1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518464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40080" y="5559552"/>
            <a:ext cx="1088136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36E"/>
                </a:solidFill>
                <a:latin typeface="Consolas"/>
              </a:rPr>
              <a:t>66,9 % объектов test уже встречались в train: текущая оценка относится к будущим проверкам известного парка.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ОБРАБОТКА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Что сделано с данными в processes/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783080"/>
            <a:ext cx="10881360" cy="347472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783080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17830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ШАГ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783080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ЧТО СДЕЛАНО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783080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ЭФФЕКТ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13055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130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Дубликаты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13055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повторы id: оставлена последняя версия записи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1305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25877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77240" y="258775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25877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Категории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258775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strip + upper, пустые строки → пропуски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587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5 столбцов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30449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77240" y="304495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0449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Даты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04495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нет даты нарушения или она вне 2006 — сегодня: запись удалена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0449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35021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777240" y="350215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35021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Дата статуса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50215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раньше даты нарушения → пропуск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5021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39593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777240" y="395935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39593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Координаты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95935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вне границ Чикаго или пустые → пропуск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9593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2 020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" y="44165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777240" y="441655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4416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Агрегация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441655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нарушения → инспекции (inspection_number)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44165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2 030 085 → 470 057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" y="48737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777240" y="487375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48737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Bahnschrift"/>
              </a:rPr>
              <a:t>Типы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487375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category, downcast int, float32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Consolas"/>
              </a:rPr>
              <a:t>98 → 53 МБ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0080" y="533095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40080" y="551383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36E"/>
                </a:solidFill>
                <a:latin typeface="Consolas"/>
              </a:rPr>
              <a:t>Гранулярность processes: одна строка = одна инспекция объекта · целевая метка inspection_status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ХРАНЕНИЕ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CSV против Parquet: размер на диске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8521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5B636E"/>
                </a:solidFill>
                <a:latin typeface="Consolas"/>
              </a:rPr>
              <a:t>CSV · ТЕКСТ, БЕЗ ТИПОВ И СЖАТИЯ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157984"/>
            <a:ext cx="5852160" cy="5486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2157984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227"/>
                </a:solidFill>
                <a:latin typeface="Bahnschrift"/>
              </a:rPr>
              <a:t>930,4 МБ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999232"/>
            <a:ext cx="5852160" cy="0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4008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585215" y="2944368"/>
            <a:ext cx="109729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49224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6437376" y="2944368"/>
            <a:ext cx="109728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2834640" y="272491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36E"/>
                </a:solidFill>
                <a:latin typeface="Consolas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58521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E8591A"/>
                </a:solidFill>
                <a:latin typeface="Consolas"/>
              </a:rPr>
              <a:t>PARQUET · КОЛОНКИ, ТИПЫ, SNAPPY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58184"/>
            <a:ext cx="5852160" cy="54864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3758184"/>
            <a:ext cx="939035" cy="54864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3758184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591A"/>
                </a:solidFill>
                <a:latin typeface="Bahnschrift"/>
              </a:rPr>
              <a:t>149,3 МБ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599432"/>
            <a:ext cx="939035" cy="0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40080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585215" y="4544568"/>
            <a:ext cx="109729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579115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524251" y="4544568"/>
            <a:ext cx="109728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378077" y="432511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8591A"/>
                </a:solidFill>
                <a:latin typeface="Consolas"/>
              </a:rPr>
              <a:t>16 %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1828800"/>
            <a:ext cx="2423160" cy="30632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8591A"/>
                </a:solidFill>
                <a:latin typeface="Bahnschrift"/>
              </a:rPr>
              <a:t>×6,2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78892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меньше места на диске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4381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09759" y="33832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типы дат и чисел хранятся в самом файле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8953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09759" y="38404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запрос читает только нужные столбцы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3525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09759" y="42976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сжатие Snappy без потерь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834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227"/>
                </a:solidFill>
                <a:latin typeface="Arial"/>
              </a:rPr>
              <a:t>Если запросу нужны 2 столбца из 26, Parquet прочитает только их, а CSV придётся разобрать целиком, строка за строкой.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PANDAS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Время чтения датасета в память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8521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5B636E"/>
                </a:solidFill>
                <a:latin typeface="Consolas"/>
              </a:rPr>
              <a:t>PD.READ_CSV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157984"/>
            <a:ext cx="5852160" cy="5486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2157984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227"/>
                </a:solidFill>
                <a:latin typeface="Bahnschrift"/>
              </a:rPr>
              <a:t>15,25 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999232"/>
            <a:ext cx="5852160" cy="0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4008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585215" y="2944368"/>
            <a:ext cx="109729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49224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6437376" y="2944368"/>
            <a:ext cx="109728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2834640" y="272491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36E"/>
                </a:solidFill>
                <a:latin typeface="Consolas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58521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E8591A"/>
                </a:solidFill>
                <a:latin typeface="Consolas"/>
              </a:rPr>
              <a:t>PD.READ_PARQUET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58184"/>
            <a:ext cx="5852160" cy="54864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3758184"/>
            <a:ext cx="606705" cy="54864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3758184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591A"/>
                </a:solidFill>
                <a:latin typeface="Bahnschrift"/>
              </a:rPr>
              <a:t>1,58 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599432"/>
            <a:ext cx="606705" cy="0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40080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585215" y="4544568"/>
            <a:ext cx="109729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246785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191921" y="4544568"/>
            <a:ext cx="109728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211912" y="432511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8591A"/>
                </a:solidFill>
                <a:latin typeface="Consolas"/>
              </a:rPr>
              <a:t>10 %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1828800"/>
            <a:ext cx="2423160" cy="30632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8591A"/>
                </a:solidFill>
                <a:latin typeface="Bahnschrift"/>
              </a:rPr>
              <a:t>×9,6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78892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быстрее чтение из Parquet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4381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09759" y="33832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медиана: CSV — 3 прогона, Parquet —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8953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09759" y="38404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DataFrame в памяти: 1,18 ГБ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3525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09759" y="42976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читались все столбцы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834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227"/>
                </a:solidFill>
                <a:latin typeface="Arial"/>
              </a:rPr>
              <a:t>Все столбцы поместились: оценка 1,1 ГБ при 7,2 ГБ свободной памяти. Для предобработки pandas подходит.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DUCKDB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Агрегация прямо по Parquet-файлу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37360"/>
            <a:ext cx="8046720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800" b="1">
                <a:solidFill>
                  <a:srgbClr val="E8591A"/>
                </a:solidFill>
                <a:latin typeface="Bahnschrift"/>
              </a:rPr>
              <a:t>11,6</a:t>
            </a:r>
            <a:r>
              <a:rPr sz="3400" b="1">
                <a:solidFill>
                  <a:srgbClr val="E8591A"/>
                </a:solidFill>
                <a:latin typeface="Bahnschrift"/>
              </a:rPr>
              <a:t> мс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Arial"/>
              </a:rPr>
              <a:t>группировка и подсчёт 2 030 101 строк по inspection_status · медиана 15 прогонов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11880"/>
            <a:ext cx="8046720" cy="118872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767328"/>
            <a:ext cx="768096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SELECT inspection_status, count(*) AS n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FROM 'raw/building_violations.parquet'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GROUP BY 1 ORDER BY n DESC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36E"/>
                </a:solidFill>
                <a:latin typeface="Arial"/>
              </a:rPr>
              <a:t>Прямое поколоночное сканирование: DuckDB читает нужный столбец и выполняет запрос в собственной памяти; загрузка в pandas не требуется.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783080"/>
            <a:ext cx="2423160" cy="4224528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1965960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СРАВНЕНИЕ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28600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Тот же запрос в DuckDB по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432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0,98 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20040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pandas groupby по DataFrame, уже загруженному в память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6576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46,6 мс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11480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Доля FAILED по годам и службам: pandas, чтение + groupby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5720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0,32 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02920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То же в DuckDB: один SQL по файлу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4864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591A"/>
                </a:solidFill>
                <a:latin typeface="Bahnschrift"/>
              </a:rPr>
              <a:t>0,041 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ВЕДОМОСТЬ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Итоговая ведомость замеров для отчёта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438912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1828800"/>
            <a:ext cx="448055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ПАРАМЕТР ЗАМЕРА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828800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ФОРМАТ / ИНСТРУМЕНТ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28800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ЗНАЧЕНИЕ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267712"/>
            <a:ext cx="4480559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Размер исходного файла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267712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CSV, текст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267712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930,39 МБ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79806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798064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2798064"/>
            <a:ext cx="4480559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Размер сжатого файла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798064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Parquet, Snappy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798064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149,29 МБ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32841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22959" y="3328416"/>
            <a:ext cx="4480559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Время чтения в память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328416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pandas ·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328416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15,250 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85876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3858768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59" y="3858768"/>
            <a:ext cx="4480559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Время чтения из файла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858768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pandas · Parquet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858768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1,581 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43891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822959" y="4389120"/>
            <a:ext cx="4480559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Агрегация по целевому столбцу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389120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DuckDB 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389120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0,0116 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491947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640080" y="4919472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59" y="4919472"/>
            <a:ext cx="4480559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Память машины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919472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RAM всего / свободно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919472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8,4 / 7,6 ГБ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544982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5486400" y="1828800"/>
            <a:ext cx="0" cy="3621024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8686800" y="1828800"/>
            <a:ext cx="0" cy="3621024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40080" y="5632704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Медианы: чтение CSV — 3 прогона, Parquet — 5, DuckDB — 15. pandas читал все столбцы.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11 — ВЫБОР ИНСТРУМЕНТОВ ·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Выбор инструментов, обоснованный цифрами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57784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E2227"/>
                </a:solidFill>
                <a:latin typeface="Arial"/>
              </a:rPr>
              <a:t>Датасет занимает 0,93 ГБ в CSV (2 030 101 запись). В Parquet тот же набор весит 149 МБ, в 6,2 раза меньше, и читается в pandas за 1,6 с против 15,2 с у CSV. По памяти: полная таблица занимает в pandas 1,2 ГБ при 7,2 ГБ свободной памяти, для предобработки pandas достаточно. Агрегация в DuckDB прямо по Parquet занимает 11,6 мс, сводный запрос по годам и службам выполняется в 7,8 раза быстрее, чем в pandas. Данные помещаются на одну машину с 8,4 ГБ памяти, обработка разовая, поэтому Spark избыточен: Parquet — для хранения, DuckDB — для агрегаций, pandas — для предобработки.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828800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73152" cy="868680"/>
          </a:xfrm>
          <a:prstGeom prst="rect">
            <a:avLst/>
          </a:prstGeom>
          <a:solidFill>
            <a:srgbClr val="C9C3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9385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751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5B636E"/>
                </a:solidFill>
                <a:latin typeface="Consolas"/>
              </a:rPr>
              <a:t>НЕ ОТКРОЕТ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331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2 030 101 строк при пределе листа 1 048 576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816352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0" y="2816352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2926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pandas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96265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E8591A"/>
                </a:solidFill>
                <a:latin typeface="Consolas"/>
              </a:rPr>
              <a:t>ПРЕДОБРАБОТКА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192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DataFrame 1,18 ГБ при 8,4 ГБ 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803904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0" y="3803904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39136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Parquet + DuckDB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9502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E8591A"/>
                </a:solidFill>
                <a:latin typeface="Consolas"/>
              </a:rPr>
              <a:t>ХРАНЕНИЕ И АГРЕГАЦИИ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0682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файл в 6,2 раза меньше · запрос 11,6 мс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791456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0" y="4791456"/>
            <a:ext cx="73152" cy="868680"/>
          </a:xfrm>
          <a:prstGeom prst="rect">
            <a:avLst/>
          </a:prstGeom>
          <a:solidFill>
            <a:srgbClr val="C9C3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80" y="490118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2227"/>
                </a:solidFill>
                <a:latin typeface="Bahnschrift"/>
              </a:rPr>
              <a:t>Spark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9377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00">
                <a:solidFill>
                  <a:srgbClr val="5B636E"/>
                </a:solidFill>
                <a:latin typeface="Consolas"/>
              </a:rPr>
              <a:t>ИЗБЫТОЧЕН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29437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6E"/>
                </a:solidFill>
                <a:latin typeface="Arial"/>
              </a:rPr>
              <a:t>данные помещаются на одну машину, обработка разовая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61888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8591A"/>
                </a:solidFill>
                <a:latin typeface="Consolas"/>
              </a:rPr>
              <a:t>Исторические измерения автора: прежний снимок и машина; не повторные замеры.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591A"/>
                </a:solidFill>
                <a:latin typeface="Consolas"/>
              </a:rPr>
              <a:t>12 — РЕЗУЛЬТАТ АНАЛИТИЧЕСКОЙ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От данных к проверяемой точке отсчёта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анализ 09.10.2026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591A"/>
                </a:solidFill>
                <a:latin typeface="Bahnschrift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227"/>
                </a:solidFill>
                <a:latin typeface="Bahnschrift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57784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>На полном снимке из 2 032 070 записей проверены типы, полнота, уникальность, диапазоны, согласованность, метка, репрезентативность и утечка.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E2227"/>
              </a:solidFill>
              <a:latin typeface="Arial"/>
            </a:endParaR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>Для модели сформировано 357 763 инспекций с однозначным FAILED/PASSED. Семь графиков объясняют структуру данных и ограничения анализа.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1E2227"/>
              </a:solidFill>
              <a:latin typeface="Arial"/>
            </a:endParaR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227"/>
                </a:solidFill>
                <a:latin typeface="Arial"/>
              </a:rPr>
              <a:t>На временном тесте AP логистической модели — 0,928 против 0,794 у Dummy. Но приоритет получает 97,2 % проверок: практическая полезность требует локальных данных и подтверждённого лимита внимания.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828800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938528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Отчёт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75104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14 СТРАНИЦ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33172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Постановка, качество, EDA, baseline, план и риски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816352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0" y="2816352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2926080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Notebook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962656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ВЫПОЛНЕН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19272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Все ячейки исполнены; результаты воспроизводимы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803904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0" y="3803904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3913632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Данные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950208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СНИМОК В GIT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06824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Компактные таблицы + дата, источник и SHA-256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791456"/>
            <a:ext cx="49377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0" y="4791456"/>
            <a:ext cx="73152" cy="868680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80" y="4901184"/>
            <a:ext cx="23701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7"/>
                </a:solidFill>
                <a:latin typeface="Bahnschrift"/>
              </a:rPr>
              <a:t>Проект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937760"/>
            <a:ext cx="2271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E8591A"/>
                </a:solidFill>
                <a:latin typeface="Consolas"/>
              </a:rPr>
              <a:t>САМОСТОЯТЕЛЬНЫЙ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294376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36E"/>
                </a:solidFill>
                <a:latin typeface="Arial"/>
              </a:rPr>
              <a:t>Аналитика курсового проекта; без привязки к диплому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3633</Words>
  <Application>Microsoft Macintosh PowerPoint</Application>
  <PresentationFormat>Широкоэкранный</PresentationFormat>
  <Paragraphs>874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3" baseType="lpstr">
      <vt:lpstr>Arial</vt:lpstr>
      <vt:lpstr>Bahnschrift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Медиханов Тимур Фархадович</cp:lastModifiedBy>
  <cp:revision>3</cp:revision>
  <dcterms:created xsi:type="dcterms:W3CDTF">2013-01-27T09:14:16Z</dcterms:created>
  <dcterms:modified xsi:type="dcterms:W3CDTF">2026-10-09T12:21:29Z</dcterms:modified>
  <cp:category/>
</cp:coreProperties>
</file>