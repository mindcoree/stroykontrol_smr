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0" y="1280160"/>
            <a:ext cx="804672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0" b="1">
                <a:solidFill>
                  <a:srgbClr val="2B3037"/>
                </a:solidFill>
                <a:latin typeface="Bahnschrift"/>
              </a:rPr>
              <a:t>2.03 млн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2B30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E8591A"/>
                </a:solidFill>
                <a:latin typeface="Consolas"/>
              </a:rPr>
              <a:t>КУРСОВОЙ ПРОЕКТ · РК-1 ·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929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FFFFFF"/>
                </a:solidFill>
                <a:latin typeface="Bahnschrift"/>
              </a:rPr>
              <a:t>Автоматизация строительного контроля</a:t>
            </a:r>
          </a:p>
          <a:p>
            <a:pPr algn="l">
              <a:lnSpc>
                <a:spcPct val="95000"/>
              </a:lnSpc>
            </a:pPr>
            <a:r>
              <a:rPr sz="3600" b="1">
                <a:solidFill>
                  <a:srgbClr val="FFFFFF"/>
                </a:solidFill>
                <a:latin typeface="Bahnschrift"/>
              </a:rPr>
              <a:t>и управления качеством СМР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9B4A8"/>
                </a:solidFill>
                <a:latin typeface="Arial"/>
              </a:rPr>
              <a:t>Аналитическая часть самостоятельного учебного проекта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10128"/>
            <a:ext cx="1188720" cy="54864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B9B4A8"/>
                </a:solidFill>
                <a:latin typeface="Arial"/>
              </a:rPr>
              <a:t>Постановка задачи · качество данных · 7 графиков EDA</a:t>
            </a:r>
          </a:p>
          <a:p>
            <a:r>
              <a:rPr sz="1600" b="0">
                <a:solidFill>
                  <a:srgbClr val="B9B4A8"/>
                </a:solidFill>
                <a:latin typeface="Arial"/>
              </a:rPr>
              <a:t>Baseline · план дальнейшей работы · воспроизводимый код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31520" y="493776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КОМАНДА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Медиханов Тимур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747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3474720" y="493776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ДАТАСЕТ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212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Chicago Building Violations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полный архив с 2006 года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217920" y="493776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ОБЪЁМ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12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2 032 070 записей</a:t>
            </a:r>
          </a:p>
          <a:p>
            <a:r>
              <a:rPr sz="1300" b="0">
                <a:solidFill>
                  <a:srgbClr val="FFFFFF"/>
                </a:solidFill>
                <a:latin typeface="Arial"/>
              </a:rPr>
              <a:t>931 МБ в CSV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20" y="4800600"/>
            <a:ext cx="2468880" cy="0"/>
          </a:xfrm>
          <a:prstGeom prst="line">
            <a:avLst/>
          </a:prstGeom>
          <a:ln w="12700">
            <a:solidFill>
              <a:srgbClr val="2B3037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8961120" y="493776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ДАТА АНАЛИЗА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5212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09.10.2026</a:t>
            </a:r>
          </a:p>
        </p:txBody>
      </p:sp>
      <p:sp>
        <p:nvSpPr>
          <p:cNvPr id="22" name="Parallelogram 21"/>
          <p:cNvSpPr/>
          <p:nvPr/>
        </p:nvSpPr>
        <p:spPr>
          <a:xfrm>
            <a:off x="-36576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-3657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29260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62179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95097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128016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160934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193852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226771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2596895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2926079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325526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358444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arallelogram 34"/>
          <p:cNvSpPr/>
          <p:nvPr/>
        </p:nvSpPr>
        <p:spPr>
          <a:xfrm>
            <a:off x="391363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424281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arallelogram 36"/>
          <p:cNvSpPr/>
          <p:nvPr/>
        </p:nvSpPr>
        <p:spPr>
          <a:xfrm>
            <a:off x="457200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4901184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5230368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arallelogram 39"/>
          <p:cNvSpPr/>
          <p:nvPr/>
        </p:nvSpPr>
        <p:spPr>
          <a:xfrm>
            <a:off x="555955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588873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621792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arallelogram 42"/>
          <p:cNvSpPr/>
          <p:nvPr/>
        </p:nvSpPr>
        <p:spPr>
          <a:xfrm>
            <a:off x="6547104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arallelogram 43"/>
          <p:cNvSpPr/>
          <p:nvPr/>
        </p:nvSpPr>
        <p:spPr>
          <a:xfrm>
            <a:off x="6876288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720547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753465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arallelogram 46"/>
          <p:cNvSpPr/>
          <p:nvPr/>
        </p:nvSpPr>
        <p:spPr>
          <a:xfrm>
            <a:off x="7863840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8193024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arallelogram 48"/>
          <p:cNvSpPr/>
          <p:nvPr/>
        </p:nvSpPr>
        <p:spPr>
          <a:xfrm>
            <a:off x="8522208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arallelogram 49"/>
          <p:cNvSpPr/>
          <p:nvPr/>
        </p:nvSpPr>
        <p:spPr>
          <a:xfrm>
            <a:off x="8851392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9180576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9509759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arallelogram 52"/>
          <p:cNvSpPr/>
          <p:nvPr/>
        </p:nvSpPr>
        <p:spPr>
          <a:xfrm>
            <a:off x="983894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1016812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049731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10826495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11155679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arallelogram 57"/>
          <p:cNvSpPr/>
          <p:nvPr/>
        </p:nvSpPr>
        <p:spPr>
          <a:xfrm>
            <a:off x="11484863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11814047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12143231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12472415" y="6693408"/>
            <a:ext cx="329184" cy="164592"/>
          </a:xfrm>
          <a:prstGeom prst="parallelogram">
            <a:avLst>
              <a:gd name="adj" fmla="val 100000"/>
            </a:avLst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01 — ПОСТАНОВКА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Кому и для какого решения нужен результат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ПОЛЬЗОВАТЕЛЬ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2316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E2227"/>
                </a:solidFill>
                <a:latin typeface="Arial"/>
              </a:defRPr>
            </a:pPr>
            <a:r>
              <a:t>Координатор инспекций и руководитель строительного контроля.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20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42316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E2227"/>
                </a:solidFill>
                <a:latin typeface="Arial"/>
              </a:defRPr>
            </a:pPr>
            <a:r>
              <a:t>Приоритет внимания к уже запланированной инспекции.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920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ВЫХОД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42316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E2227"/>
                </a:solidFill>
                <a:latin typeface="Arial"/>
              </a:defRPr>
            </a:pPr>
            <a:r>
              <a:t>Вероятность FAILED среди записанных FAILED/PASSED.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E2227"/>
                </a:solidFill>
                <a:latin typeface="Arial"/>
              </a:defRPr>
            </a:pPr>
            <a:r>
              <a:t>FN: пропущенная проблемная проверка — 5 у.е.</a:t>
            </a:r>
          </a:p>
          <a:p>
            <a:pPr>
              <a:spcAft>
                <a:spcPts val="700"/>
              </a:spcAft>
              <a:defRPr sz="1800" b="0">
                <a:solidFill>
                  <a:srgbClr val="1E2227"/>
                </a:solidFill>
                <a:latin typeface="Arial"/>
              </a:defRPr>
            </a:pPr>
            <a:r>
              <a:t>FP: лишнее внимание к успешной проверке — 1 у.е.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B636E"/>
                </a:solidFill>
                <a:latin typeface="Arial"/>
              </a:defRPr>
            </a:pPr>
            <a:r>
              <a:t>Критерий: AP ≥ Dummy + 0.05; recall ≥ 0.80; precision ≥ доли FAILED.</a:t>
            </a:r>
          </a:p>
          <a:p>
            <a:pPr>
              <a:spcAft>
                <a:spcPts val="700"/>
              </a:spcAft>
              <a:defRPr sz="1600" b="0">
                <a:solidFill>
                  <a:srgbClr val="5B636E"/>
                </a:solidFill>
                <a:latin typeface="Arial"/>
              </a:defRPr>
            </a:pPr>
            <a:r>
              <a:t>Цена ошибки — учебная гипотеза. Решение проверяет специалист.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02 — ИСТОЧНИК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Полный архив, но ограниченный охват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6393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ПАРАМЕТР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69768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СНИМОК 09.10.2026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5000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23160"/>
            <a:ext cx="3621023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Источник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423160"/>
            <a:ext cx="695858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Chicago Data Portal · 22u3-xenr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07792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80944"/>
            <a:ext cx="3621023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Строк / столбцов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980944"/>
            <a:ext cx="695858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2 032 070 / 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65576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38728"/>
            <a:ext cx="3621023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Инспекции после агрегации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538728"/>
            <a:ext cx="695858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470 576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23360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96512"/>
            <a:ext cx="3621023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Бинарная выборка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096512"/>
            <a:ext cx="695858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357 763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81144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54296"/>
            <a:ext cx="3621023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Формат / доступ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654296"/>
            <a:ext cx="695858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CSV → Parquet ZSTD · открытый экспорт без токена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949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E8591A"/>
                </a:solidFill>
                <a:latin typeface="Arial"/>
              </a:defRPr>
            </a:pPr>
            <a:r>
              <a:t>Журнал нарушений Чикаго: не все инспекции и не локальные данные СМР.</a:t>
            </a:r>
          </a:p>
          <a:p>
            <a:pPr>
              <a:spcAft>
                <a:spcPts val="700"/>
              </a:spcAft>
              <a:defRPr sz="1500" b="1">
                <a:solidFill>
                  <a:srgbClr val="E8591A"/>
                </a:solidFill>
                <a:latin typeface="Arial"/>
              </a:defRPr>
            </a:pPr>
            <a:r>
              <a:t>Результат нельзя переносить на другой город без проверки.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03 — КАЧЕСТВО ДАННЫХ · 1–4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Восемь проверок качества данных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ПРОВЕРКА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920240"/>
            <a:ext cx="3730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920240"/>
            <a:ext cx="45994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5000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23160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1. Структура и типы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423160"/>
            <a:ext cx="37124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26 полей; ошибки разбора дат: 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423160"/>
            <a:ext cx="45811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Явные типы, строгий CSV-парсер; потеря строк не допускается.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99816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72968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2. Полнота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172968"/>
            <a:ext cx="37124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Без ключей: 0; без координат: 2 020.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172968"/>
            <a:ext cx="45811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Пропуски считаются по всем полям; координаты импутируются внутри train.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849624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22776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3. Уникальность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922776"/>
            <a:ext cx="37124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Повторы ID: 0; полные повторы: 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22776"/>
            <a:ext cx="45811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ID нарушения и номер инспекции имеют разную гранулярность.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99432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672584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4. Допустимые значения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672584"/>
            <a:ext cx="37124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Некорректных дат: 0; координат вне рамки: 0.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672584"/>
            <a:ext cx="45811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Даты 2006–09.10.2026; грубая рамка 41.6–42.1 / −88–−87.5.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864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B636E"/>
                </a:solidFill>
                <a:latin typeface="Arial"/>
              </a:defRPr>
            </a:pPr>
            <a:r>
              <a:t>Использован стандартный чек-лист: перечень преподавателя не предоставлен.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03 — КАЧЕСТВО ДАННЫХ · 5–8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Восемь проверок качества данных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ПРОВЕРКА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920240"/>
            <a:ext cx="3730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920240"/>
            <a:ext cx="45994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5000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23160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5. Согласованность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423160"/>
            <a:ext cx="37124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Инспекций с разными датами: 41 744; обратных дат статуса: 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423160"/>
            <a:ext cx="45811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Проверка единства объекта, даты, службы, категории и статуса внутри инспекции.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99816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72968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6. Целевая метка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172968"/>
            <a:ext cx="37124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Бинарная выборка: 357 763; FAILED: 73.7%.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172968"/>
            <a:ext cx="45811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FAILED=1, PASSED=0; остальные статусы и конфликты исключены.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849624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22776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7. Репрезентативность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922776"/>
            <a:ext cx="37124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Один город; 155 788 групп объектов; 2026 неполный.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22776"/>
            <a:ext cx="45811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Архив нарушений не является полным реестром всех осмотров или СМР.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99432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672584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8. Утечка и время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672584"/>
            <a:ext cx="37124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Train ≤2023; validation 2024; test 2025; 8 исходных признаков.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672584"/>
            <a:ext cx="45811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227"/>
                </a:solidFill>
                <a:latin typeface="Arial"/>
              </a:defRPr>
            </a:pPr>
            <a:r>
              <a:t>Постфактум поля исключены; версии полей на момент осмотра недоступны.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864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B636E"/>
                </a:solidFill>
                <a:latin typeface="Arial"/>
              </a:defRPr>
            </a:pPr>
            <a:r>
              <a:t>Использован стандартный чек-лист: перечень преподавателя не предоставлен.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04 — ПОДГОТОВКА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Одна строка модели — одна инспекция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920240"/>
            <a:ext cx="3429000" cy="329184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1488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E8591A"/>
                </a:solidFill>
                <a:latin typeface="Arial"/>
              </a:defRPr>
            </a:pPr>
            <a:r>
              <a:t>RAW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74320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E2227"/>
                </a:solidFill>
                <a:latin typeface="Bahnschrift"/>
              </a:defRPr>
            </a:pPr>
            <a:r>
              <a:t>2 032 070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65760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2227"/>
                </a:solidFill>
                <a:latin typeface="Arial"/>
              </a:defRPr>
            </a:pPr>
            <a:r>
              <a:t>Записи нарушений</a:t>
            </a:r>
          </a:p>
          <a:p>
            <a:pPr>
              <a:spcAft>
                <a:spcPts val="700"/>
              </a:spcAft>
              <a:defRPr sz="1600" b="0">
                <a:solidFill>
                  <a:srgbClr val="1E2227"/>
                </a:solidFill>
                <a:latin typeface="Arial"/>
              </a:defRPr>
            </a:pPr>
            <a:r>
              <a:t>Строгий CSV-парсер</a:t>
            </a:r>
          </a:p>
          <a:p>
            <a:pPr>
              <a:spcAft>
                <a:spcPts val="700"/>
              </a:spcAft>
              <a:defRPr sz="1600" b="0">
                <a:solidFill>
                  <a:srgbClr val="1E2227"/>
                </a:solidFill>
                <a:latin typeface="Arial"/>
              </a:defRPr>
            </a:pPr>
            <a:r>
              <a:t>Хеш и метаданные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920240"/>
            <a:ext cx="3429000" cy="329184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1488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E8591A"/>
                </a:solidFill>
                <a:latin typeface="Arial"/>
              </a:defRPr>
            </a:pPr>
            <a:r>
              <a:t>PROCESSED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4320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E2227"/>
                </a:solidFill>
                <a:latin typeface="Bahnschrift"/>
              </a:defRPr>
            </a:pPr>
            <a:r>
              <a:t>470 576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65760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2227"/>
                </a:solidFill>
                <a:latin typeface="Arial"/>
              </a:defRPr>
            </a:pPr>
            <a:r>
              <a:t>Группировка inspection_number</a:t>
            </a:r>
          </a:p>
          <a:p>
            <a:pPr>
              <a:spcAft>
                <a:spcPts val="700"/>
              </a:spcAft>
              <a:defRPr sz="1600" b="0">
                <a:solidFill>
                  <a:srgbClr val="1E2227"/>
                </a:solidFill>
                <a:latin typeface="Arial"/>
              </a:defRPr>
            </a:pPr>
            <a:r>
              <a:t>Проверка конфликтов</a:t>
            </a:r>
          </a:p>
          <a:p>
            <a:pPr>
              <a:spcAft>
                <a:spcPts val="700"/>
              </a:spcAft>
              <a:defRPr sz="1600" b="0">
                <a:solidFill>
                  <a:srgbClr val="1E2227"/>
                </a:solidFill>
                <a:latin typeface="Arial"/>
              </a:defRPr>
            </a:pPr>
            <a:r>
              <a:t>Число нарушений для EDA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920240"/>
            <a:ext cx="3429000" cy="3291840"/>
          </a:xfrm>
          <a:prstGeom prst="rect">
            <a:avLst/>
          </a:prstGeom>
          <a:solidFill>
            <a:srgbClr val="FFFFFF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1488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E8591A"/>
                </a:solidFill>
                <a:latin typeface="Arial"/>
              </a:defRPr>
            </a:pPr>
            <a:r>
              <a:t>MODEL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4320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E2227"/>
                </a:solidFill>
                <a:latin typeface="Bahnschrift"/>
              </a:defRPr>
            </a:pPr>
            <a:r>
              <a:t>357 763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65760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E2227"/>
                </a:solidFill>
                <a:latin typeface="Arial"/>
              </a:defRPr>
            </a:pPr>
            <a:r>
              <a:t>Только FAILED / PASSED</a:t>
            </a:r>
          </a:p>
          <a:p>
            <a:pPr>
              <a:spcAft>
                <a:spcPts val="700"/>
              </a:spcAft>
              <a:defRPr sz="1600" b="0">
                <a:solidFill>
                  <a:srgbClr val="1E2227"/>
                </a:solidFill>
                <a:latin typeface="Arial"/>
              </a:defRPr>
            </a:pPr>
            <a:r>
              <a:t>Конфликты исключены</a:t>
            </a:r>
          </a:p>
          <a:p>
            <a:pPr>
              <a:spcAft>
                <a:spcPts val="700"/>
              </a:spcAft>
              <a:defRPr sz="1600" b="0">
                <a:solidFill>
                  <a:srgbClr val="1E2227"/>
                </a:solidFill>
                <a:latin typeface="Arial"/>
              </a:defRPr>
            </a:pPr>
            <a:r>
              <a:t>8 входных признаков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36E"/>
                </a:solidFill>
                <a:latin typeface="Arial"/>
              </a:defRPr>
            </a:pPr>
            <a:r>
              <a:t>Текущие нарушения, статус и результаты устранения исключены из входов модели.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05 — РАЗВЕДОЧНЫЙ АНАЛИЗ · 1/7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Полнота исходных полей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7</a:t>
            </a:r>
          </a:p>
        </p:txBody>
      </p:sp>
      <p:pic>
        <p:nvPicPr>
          <p:cNvPr id="12" name="Picture 11" descr="eda01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7818120" cy="37353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49640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423160"/>
            <a:ext cx="2697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Максимальная доля пропусков — 80.6% в ssa. Даты статуса, комментарии и SSA не включены в модель; координаты заполняются медианой только по train с индикатором пропуска.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05 — РАЗВЕДОЧНЫЙ АНАЛИЗ · 2/7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Объём наблюдений по годам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8</a:t>
            </a:r>
          </a:p>
        </p:txBody>
      </p:sp>
      <p:pic>
        <p:nvPicPr>
          <p:cNvPr id="12" name="Picture 11" descr="eda02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7818120" cy="37353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49640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423160"/>
            <a:ext cx="2697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Максимум в архиве — 2006 год: 39,385 инспекций. 2026 год неполный и не используется как тест. Изменение объёма отражает и практику регистрации, поэтому не доказывает изменение качества зданий.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05 — РАЗВЕДОЧНЫЙ АНАЛИЗ · 3/7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Результаты на уровне инспекций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9</a:t>
            </a:r>
          </a:p>
        </p:txBody>
      </p:sp>
      <p:pic>
        <p:nvPicPr>
          <p:cNvPr id="12" name="Picture 11" descr="eda03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7818120" cy="37353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49640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423160"/>
            <a:ext cx="2697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В бинарной выборке FAILED составляет 73.7%. CLOSED, HOLD и UNKNOWN исключены: отсутствие FAILED не означает PASSED. Accuracy без метрик классов может скрывать пропуски проблемных проверок.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05 — РАЗВЕДОЧНЫЙ АНАЛИЗ · 4/7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Почему строки нельзя считать инспекциями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12" name="Picture 11" descr="eda04_g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7818120" cy="37353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49640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423160"/>
            <a:ext cx="2697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Медиана — 3 записи, 95-й перцентиль — 13, максимум — 538. Доля FAILED по строкам перевзвешивает инспекции с большим числом нарушений. Число нарушений текущей проверки используется только в EDA.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05 — РАЗВЕДОЧНЫЙ АНАЛИЗ · 5/7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Результат зависит от службы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11</a:t>
            </a:r>
          </a:p>
        </p:txBody>
      </p:sp>
      <p:pic>
        <p:nvPicPr>
          <p:cNvPr id="12" name="Picture 11" descr="eda05_bure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7818120" cy="416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49640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423160"/>
            <a:ext cx="2697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Среди 10 крупнейших служб доля FAILED меняется от 31.9% до 93.3%. Служба — кандидат в признаки, но различие может отражать процедуры учёта. Интервалы описательные и не учитывают зависимость повторных инспекций одного объекта.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05 — РАЗВЕДОЧНЫЙ АНАЛИЗ · 6/7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Сезонность наблюдений и результата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12" name="Picture 11" descr="eda06_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7818120" cy="37353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49640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423160"/>
            <a:ext cx="2697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В полных годах месячная доля FAILED составляет 71.6%–74.7%. Месяц кодируется циклически; это ассоциация, смешанная с составом служб и лет, а не причинный эффект сезона.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05 — РАЗВЕДОЧНЫЙ АНАЛИЗ · 7/7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Пространственная концентрация инспекций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13</a:t>
            </a:r>
          </a:p>
        </p:txBody>
      </p:sp>
      <p:pic>
        <p:nvPicPr>
          <p:cNvPr id="12" name="Picture 11" descr="eda07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7818120" cy="39090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49640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ВЫВОД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423160"/>
            <a:ext cx="2697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У 502 инспекций нет пригодных координат. Карта показывает интенсивность наблюдения в архиве, без нормировки на число зданий. География может помочь ранжированию, но не позволяет объявить район более опасным.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06 —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Временная оценка без текущих нарушений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ВЫБОРКА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920240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ПЕРИОД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20240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ИНСПЕКЦИИ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920240"/>
            <a:ext cx="24963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FAILED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5000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23160"/>
            <a:ext cx="2615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423160"/>
            <a:ext cx="2615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2006–2023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423160"/>
            <a:ext cx="2615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328 294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423160"/>
            <a:ext cx="24780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73.0%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099816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172968"/>
            <a:ext cx="2615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172968"/>
            <a:ext cx="2615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2024–2024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172968"/>
            <a:ext cx="2615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10 594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172968"/>
            <a:ext cx="24780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76.9%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849624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922776"/>
            <a:ext cx="2615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922776"/>
            <a:ext cx="2615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2025–2025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922776"/>
            <a:ext cx="2615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10 910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922776"/>
            <a:ext cx="24780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79.4%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57200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E2227"/>
                </a:solidFill>
                <a:latin typeface="Arial"/>
              </a:defRPr>
            </a:pPr>
            <a:r>
              <a:t>Dummy prior → частота FAILED по train</a:t>
            </a:r>
          </a:p>
          <a:p>
            <a:pPr>
              <a:spcAft>
                <a:spcPts val="700"/>
              </a:spcAft>
              <a:defRPr sz="1700" b="0">
                <a:solidFill>
                  <a:srgbClr val="1E2227"/>
                </a:solidFill>
                <a:latin typeface="Arial"/>
              </a:defRPr>
            </a:pPr>
            <a:r>
              <a:t>Logistic regression → служба, категория, календарь и координаты</a:t>
            </a:r>
          </a:p>
          <a:p>
            <a:pPr>
              <a:spcAft>
                <a:spcPts val="700"/>
              </a:spcAft>
              <a:defRPr sz="1700" b="0">
                <a:solidFill>
                  <a:srgbClr val="1E2227"/>
                </a:solidFill>
                <a:latin typeface="Arial"/>
              </a:defRPr>
            </a:pPr>
            <a:r>
              <a:t>Порог: минимум 5×FN + FP на 2024; 2025 используется только для оценки.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06 — BASELINE · РЕЗУЛЬТАТ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Простая модель против частотной точки отсчёта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273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МОДЕЛЬ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920240"/>
            <a:ext cx="117043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20240"/>
            <a:ext cx="139903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ROC-AUC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920240"/>
            <a:ext cx="1536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920240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1920240"/>
            <a:ext cx="14904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COST/N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35000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423160"/>
            <a:ext cx="32552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Dummy prior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423160"/>
            <a:ext cx="115214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0.794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423160"/>
            <a:ext cx="138074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0.500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423160"/>
            <a:ext cx="151790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0.794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423160"/>
            <a:ext cx="128930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1.000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423160"/>
            <a:ext cx="1472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0.206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99816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72968"/>
            <a:ext cx="32552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Logistic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172968"/>
            <a:ext cx="115214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0.928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172968"/>
            <a:ext cx="138074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0.810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172968"/>
            <a:ext cx="151790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0.814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172968"/>
            <a:ext cx="128930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0.998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172968"/>
            <a:ext cx="1472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0.190</a:t>
            </a:r>
          </a:p>
        </p:txBody>
      </p:sp>
      <p:pic>
        <p:nvPicPr>
          <p:cNvPr id="32" name="Picture 31" descr="baseline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94760"/>
            <a:ext cx="6400800" cy="27025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60920" y="3794760"/>
            <a:ext cx="3794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8591A"/>
                </a:solidFill>
                <a:latin typeface="Arial"/>
              </a:defRPr>
            </a:pPr>
            <a:r>
              <a:t>Порог: 0.235</a:t>
            </a:r>
          </a:p>
          <a:p>
            <a:pPr>
              <a:spcAft>
                <a:spcPts val="700"/>
              </a:spcAft>
              <a:defRPr sz="1600" b="1">
                <a:solidFill>
                  <a:srgbClr val="E8591A"/>
                </a:solidFill>
                <a:latin typeface="Arial"/>
              </a:defRPr>
            </a:pPr>
            <a:r>
              <a:t>FN: 20 · FP: 1 968</a:t>
            </a:r>
          </a:p>
          <a:p>
            <a:pPr>
              <a:spcAft>
                <a:spcPts val="700"/>
              </a:spcAft>
              <a:defRPr sz="1600" b="1">
                <a:solidFill>
                  <a:srgbClr val="E8591A"/>
                </a:solidFill>
                <a:latin typeface="Arial"/>
              </a:defRPr>
            </a:pPr>
            <a:r>
              <a:t>Критерий: достигнут</a:t>
            </a:r>
          </a:p>
          <a:p>
            <a:pPr>
              <a:spcAft>
                <a:spcPts val="700"/>
              </a:spcAft>
              <a:defRPr sz="1600" b="1">
                <a:solidFill>
                  <a:srgbClr val="E8591A"/>
                </a:solidFill>
                <a:latin typeface="Arial"/>
              </a:defRPr>
            </a:pPr>
            <a:r>
              <a:t>В приоритете 97.2% проверок.</a:t>
            </a:r>
          </a:p>
          <a:p>
            <a:pPr>
              <a:spcAft>
                <a:spcPts val="700"/>
              </a:spcAft>
              <a:defRPr sz="1600" b="1">
                <a:solidFill>
                  <a:srgbClr val="E8591A"/>
                </a:solidFill>
                <a:latin typeface="Arial"/>
              </a:defRPr>
            </a:pPr>
            <a:r>
              <a:t>Экономия внимания ещё не доказана.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07 — ПЛАН И РИСКИ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Что проверить после первого рубежного контроля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ЭТАП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920240"/>
            <a:ext cx="4828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РАБОТА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920240"/>
            <a:ext cx="38679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B636E"/>
                </a:solidFill>
                <a:latin typeface="Arial"/>
              </a:defRPr>
            </a:pPr>
            <a:r>
              <a:t>ОСНОВНОЙ РИСК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5000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23160"/>
            <a:ext cx="17922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8–9 недели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423160"/>
            <a:ext cx="48097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Уточнить статусы, даты и доступность полей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423160"/>
            <a:ext cx="38496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Утечка через изменённые поля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99816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72968"/>
            <a:ext cx="17922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10–11 недели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172968"/>
            <a:ext cx="48097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Получить полный журнал и локальные данные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172968"/>
            <a:ext cx="38496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Смещение архива нарушений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849624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22776"/>
            <a:ext cx="17922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12–13 недели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922776"/>
            <a:ext cx="48097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Backtest, новые объекты, модель без служб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922776"/>
            <a:ext cx="38496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Дрейф и переносимость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99432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672584"/>
            <a:ext cx="17922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14–15 недели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672584"/>
            <a:ext cx="48097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Согласовать стоимость и лимит очереди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672584"/>
            <a:ext cx="38496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E2227"/>
                </a:solidFill>
                <a:latin typeface="Arial"/>
              </a:defRPr>
            </a:pPr>
            <a:r>
              <a:t>Учебная цена ≠ реальный ущерб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864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36E"/>
                </a:solidFill>
                <a:latin typeface="Arial"/>
              </a:defRPr>
            </a:pPr>
            <a:r>
              <a:t>Текущая сдача — аналитика. Разработка и внедрение ERP остаются вне её объёма.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2EFE8"/>
          </a:solidFill>
          <a:ln w="7620">
            <a:solidFill>
              <a:srgbClr val="C9C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08 — РЕЗУЛЬТАТ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E2227"/>
                </a:solidFill>
                <a:latin typeface="Bahnschrift"/>
              </a:defRPr>
            </a:pPr>
            <a:r>
              <a:t>Все шесть пунктов задания покрыты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35640" cy="10972"/>
          </a:xfrm>
          <a:prstGeom prst="rect">
            <a:avLst/>
          </a:prstGeom>
          <a:solidFill>
            <a:srgbClr val="C9C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25449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B636E"/>
                </a:solidFill>
                <a:latin typeface="Arial"/>
              </a:defRPr>
            </a:pPr>
            <a:r>
              <a:t>Chicago Building Violations · снимок 09.10.2026 · учебный проект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6126480"/>
            <a:ext cx="4160520" cy="457200"/>
          </a:xfrm>
          <a:prstGeom prst="rect">
            <a:avLst/>
          </a:prstGeom>
          <a:solidFill>
            <a:srgbClr val="F2EFE8"/>
          </a:solidFill>
          <a:ln w="7620">
            <a:solidFill>
              <a:srgbClr val="1E2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6181344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700" b="1">
                <a:solidFill>
                  <a:srgbClr val="5B636E"/>
                </a:solidFill>
                <a:latin typeface="Arial"/>
              </a:defRPr>
            </a:pPr>
            <a:r>
              <a:t>СТРОЙКОНТРОЛЬ СМР · РК-1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364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E2227"/>
                </a:solidFill>
                <a:latin typeface="Arial"/>
              </a:defRPr>
            </a:pPr>
            <a:r>
              <a:t>Медиханов Тимур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18134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591A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68580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E2227"/>
                </a:solidFill>
                <a:latin typeface="Arial"/>
              </a:defRPr>
            </a:pPr>
            <a:r>
              <a:t>01  Постановка: пользователь, решение, критерий, ошибки</a:t>
            </a:r>
          </a:p>
          <a:p>
            <a:pPr>
              <a:spcAft>
                <a:spcPts val="700"/>
              </a:spcAft>
              <a:defRPr sz="2000" b="0">
                <a:solidFill>
                  <a:srgbClr val="1E2227"/>
                </a:solidFill>
                <a:latin typeface="Arial"/>
              </a:defRPr>
            </a:pPr>
            <a:r>
              <a:t>02  Источник: полный снимок, формат, доступ и ограничения</a:t>
            </a:r>
          </a:p>
          <a:p>
            <a:pPr>
              <a:spcAft>
                <a:spcPts val="700"/>
              </a:spcAft>
              <a:defRPr sz="2000" b="0">
                <a:solidFill>
                  <a:srgbClr val="1E2227"/>
                </a:solidFill>
                <a:latin typeface="Arial"/>
              </a:defRPr>
            </a:pPr>
            <a:r>
              <a:t>03  Качество: восемь проверок с измеренными результатами</a:t>
            </a:r>
          </a:p>
          <a:p>
            <a:pPr>
              <a:spcAft>
                <a:spcPts val="700"/>
              </a:spcAft>
              <a:defRPr sz="2000" b="0">
                <a:solidFill>
                  <a:srgbClr val="1E2227"/>
                </a:solidFill>
                <a:latin typeface="Arial"/>
              </a:defRPr>
            </a:pPr>
            <a:r>
              <a:t>04  EDA: семь графиков и выводы по каждому</a:t>
            </a:r>
          </a:p>
          <a:p>
            <a:pPr>
              <a:spcAft>
                <a:spcPts val="700"/>
              </a:spcAft>
              <a:defRPr sz="2000" b="0">
                <a:solidFill>
                  <a:srgbClr val="1E2227"/>
                </a:solidFill>
                <a:latin typeface="Arial"/>
              </a:defRPr>
            </a:pPr>
            <a:r>
              <a:t>05  Baseline: Dummy prior и логистическая регрессия</a:t>
            </a:r>
          </a:p>
          <a:p>
            <a:pPr>
              <a:spcAft>
                <a:spcPts val="700"/>
              </a:spcAft>
              <a:defRPr sz="2000" b="0">
                <a:solidFill>
                  <a:srgbClr val="1E2227"/>
                </a:solidFill>
                <a:latin typeface="Arial"/>
              </a:defRPr>
            </a:pPr>
            <a:r>
              <a:t>06  План: этапы, риски и способы их уменьшить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920240"/>
            <a:ext cx="3429000" cy="347472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2402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8591A"/>
                </a:solidFill>
                <a:latin typeface="Arial"/>
              </a:defRPr>
            </a:pPr>
            <a:r>
              <a:t>ВОСПРОИЗВОДИМОСТЬ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880360"/>
            <a:ext cx="2971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Отчёт · notebook · код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Зафиксированный снимок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Метрики и графики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GitHub-репозиторий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B636E"/>
                </a:solidFill>
                <a:latin typeface="Arial"/>
              </a:defRPr>
            </a:pPr>
            <a:r>
              <a:t>Ограничение: качество модели подтверждено только внутри доступного архива.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defRPr sz="1100">
                <a:solidFill>
                  <a:srgbClr val="E8591A"/>
                </a:solidFill>
                <a:latin typeface="Arial"/>
              </a:defRPr>
            </a:pPr>
            <a:r>
              <a:t>ПРИЛОЖЕНИЕ · ИСХОДНЫЕ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CSV против Parquet: размер на диске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defRPr sz="1300">
                <a:latin typeface="Arial"/>
              </a:defRPr>
            </a:pPr>
            <a: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defRPr sz="1300">
                <a:latin typeface="Arial"/>
              </a:defRPr>
            </a:pPr>
            <a: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5B636E"/>
                </a:solidFill>
                <a:latin typeface="Consolas"/>
              </a:rPr>
              <a:t>CSV · ТЕКСТ, БЕЗ ТИПОВ И СЖАТИЯ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157984"/>
            <a:ext cx="5852160" cy="5486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15798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227"/>
                </a:solidFill>
                <a:latin typeface="Bahnschrift"/>
              </a:rPr>
              <a:t>930,4 МБ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2999232"/>
            <a:ext cx="5852160" cy="0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64008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585215" y="2944368"/>
            <a:ext cx="109729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49224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6437376" y="2944368"/>
            <a:ext cx="109728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2834640" y="27249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B636E"/>
                </a:solidFill>
                <a:latin typeface="Consolas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42900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E8591A"/>
                </a:solidFill>
                <a:latin typeface="Consolas"/>
              </a:rPr>
              <a:t>PARQUET · КОЛОНКИ, ТИПЫ, SNAPPY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58184"/>
            <a:ext cx="5852160" cy="54864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758184"/>
            <a:ext cx="939035" cy="54864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75818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591A"/>
                </a:solidFill>
                <a:latin typeface="Bahnschrift"/>
              </a:rPr>
              <a:t>149,3 МБ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4599432"/>
            <a:ext cx="939035" cy="0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640080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585215" y="4544568"/>
            <a:ext cx="109729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579115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1524251" y="4544568"/>
            <a:ext cx="109728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378077" y="43251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8591A"/>
                </a:solidFill>
                <a:latin typeface="Consolas"/>
              </a:rPr>
              <a:t>16 %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1828800"/>
            <a:ext cx="2423160" cy="30632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8591A"/>
                </a:solidFill>
                <a:latin typeface="Bahnschrift"/>
              </a:rPr>
              <a:t>×6,2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7889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меньше места на диске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34381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59" y="33832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типы дат и чисел хранятся в самом файле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38953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59" y="38404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запрос читает только нужные столбцы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43525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59" y="42976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сжатие Snappy без потерь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983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227"/>
                </a:solidFill>
                <a:latin typeface="Arial"/>
              </a:rPr>
              <a:t>Если запросу нужны 2 столбца из 26, Parquet прочитает только их, а CSV придётся разобрать целиком, строка за строкой.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943600"/>
            <a:ext cx="6812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E8591A"/>
                </a:solidFill>
                <a:latin typeface="Arial"/>
              </a:defRPr>
            </a:pPr>
            <a:r>
              <a:t>Иная машина и прежний снимок; показатели не измерены повторно.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defRPr sz="1100">
                <a:solidFill>
                  <a:srgbClr val="E8591A"/>
                </a:solidFill>
                <a:latin typeface="Arial"/>
              </a:defRPr>
            </a:pPr>
            <a:r>
              <a:t>ПРИЛОЖЕНИЕ · ИСХОДНЫЕ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Время чтения датасета в память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defRPr sz="1300">
                <a:latin typeface="Arial"/>
              </a:defRPr>
            </a:pPr>
            <a: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defRPr sz="1300">
                <a:latin typeface="Arial"/>
              </a:defRPr>
            </a:pPr>
            <a: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5B636E"/>
                </a:solidFill>
                <a:latin typeface="Consolas"/>
              </a:rPr>
              <a:t>PD.READ_CSV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157984"/>
            <a:ext cx="5852160" cy="5486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15798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227"/>
                </a:solidFill>
                <a:latin typeface="Bahnschrift"/>
              </a:rPr>
              <a:t>15,25 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2999232"/>
            <a:ext cx="5852160" cy="0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64008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585215" y="2944368"/>
            <a:ext cx="109729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492240" y="2916936"/>
            <a:ext cx="0" cy="164592"/>
          </a:xfrm>
          <a:prstGeom prst="line">
            <a:avLst/>
          </a:prstGeom>
          <a:ln w="9525">
            <a:solidFill>
              <a:srgbClr val="5B636E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6437376" y="2944368"/>
            <a:ext cx="109728" cy="109728"/>
          </a:xfrm>
          <a:prstGeom prst="line">
            <a:avLst/>
          </a:prstGeom>
          <a:ln w="19050">
            <a:solidFill>
              <a:srgbClr val="5B636E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2834640" y="27249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B636E"/>
                </a:solidFill>
                <a:latin typeface="Consolas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42900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E8591A"/>
                </a:solidFill>
                <a:latin typeface="Consolas"/>
              </a:rPr>
              <a:t>PD.READ_PARQUET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58184"/>
            <a:ext cx="5852160" cy="54864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758184"/>
            <a:ext cx="606705" cy="548640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75818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591A"/>
                </a:solidFill>
                <a:latin typeface="Bahnschrift"/>
              </a:rPr>
              <a:t>1,58 с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4599432"/>
            <a:ext cx="606705" cy="0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640080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585215" y="4544568"/>
            <a:ext cx="109729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246785" y="4517136"/>
            <a:ext cx="0" cy="164592"/>
          </a:xfrm>
          <a:prstGeom prst="line">
            <a:avLst/>
          </a:prstGeom>
          <a:ln w="9525">
            <a:solidFill>
              <a:srgbClr val="E8591A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1191921" y="4544568"/>
            <a:ext cx="109728" cy="109728"/>
          </a:xfrm>
          <a:prstGeom prst="line">
            <a:avLst/>
          </a:prstGeom>
          <a:ln w="19050">
            <a:solidFill>
              <a:srgbClr val="E8591A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211912" y="43251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8591A"/>
                </a:solidFill>
                <a:latin typeface="Consolas"/>
              </a:rPr>
              <a:t>10 %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1828800"/>
            <a:ext cx="2423160" cy="306324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2011680"/>
            <a:ext cx="19659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8591A"/>
                </a:solidFill>
                <a:latin typeface="Bahnschrift"/>
              </a:rPr>
              <a:t>×9,6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7889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быстрее чтение из Parquet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34381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59" y="33832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медиана: CSV — 3 прогона, Parquet — 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38953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59" y="38404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DataFrame в памяти: 1,18 ГБ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4352544"/>
            <a:ext cx="73152" cy="7315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59" y="429768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9B4A8"/>
                </a:solidFill>
                <a:latin typeface="Arial"/>
              </a:rPr>
              <a:t>читались все столбцы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983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227"/>
                </a:solidFill>
                <a:latin typeface="Arial"/>
              </a:rPr>
              <a:t>Все столбцы поместились: оценка 1,1 ГБ при 7,2 ГБ свободной памяти. Для предобработки pandas подходит.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943600"/>
            <a:ext cx="6812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E8591A"/>
                </a:solidFill>
                <a:latin typeface="Arial"/>
              </a:defRPr>
            </a:pPr>
            <a:r>
              <a:t>Иная машина и прежний снимок; показатели не измерены повторно.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defRPr sz="1100">
                <a:solidFill>
                  <a:srgbClr val="E8591A"/>
                </a:solidFill>
                <a:latin typeface="Arial"/>
              </a:defRPr>
            </a:pPr>
            <a:r>
              <a:t>ПРИЛОЖЕНИЕ · ИСХОДНЫЕ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Агрегация прямо по Parquet-файлу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defRPr sz="1300">
                <a:latin typeface="Arial"/>
              </a:defRPr>
            </a:pPr>
            <a: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defRPr sz="1300">
                <a:latin typeface="Arial"/>
              </a:defRPr>
            </a:pPr>
            <a: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737360"/>
            <a:ext cx="8046720" cy="1325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800" b="1">
                <a:solidFill>
                  <a:srgbClr val="E8591A"/>
                </a:solidFill>
                <a:latin typeface="Bahnschrift"/>
              </a:rPr>
              <a:t>11,6</a:t>
            </a:r>
            <a:r>
              <a:rPr sz="3400" b="1">
                <a:solidFill>
                  <a:srgbClr val="E8591A"/>
                </a:solidFill>
                <a:latin typeface="Bahnschrift"/>
              </a:rPr>
              <a:t> мс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227"/>
                </a:solidFill>
                <a:latin typeface="Arial"/>
              </a:rPr>
              <a:t>группировка и подсчёт 2 030 101 строк по inspection_status · медиана 15 прогонов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11880"/>
            <a:ext cx="8046720" cy="1188720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67328"/>
            <a:ext cx="76809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EFE8"/>
                </a:solidFill>
                <a:latin typeface="Consolas"/>
              </a:rPr>
              <a:t>SELECT inspection_status, count(*) AS n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EFE8"/>
                </a:solidFill>
                <a:latin typeface="Consolas"/>
              </a:rPr>
              <a:t>FROM 'raw/building_violations.parquet'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EFE8"/>
                </a:solidFill>
                <a:latin typeface="Consolas"/>
              </a:rPr>
              <a:t>GROUP BY 1 ORDER BY n DESC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defRPr sz="1300">
                <a:latin typeface="Arial"/>
              </a:defRPr>
            </a:pPr>
            <a:r>
              <a:t>DuckDB читает нужный столбец из Parquet и использует собственную память для выполнения запроса.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783080"/>
            <a:ext cx="2423160" cy="4224528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965960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E8591A"/>
                </a:solidFill>
                <a:latin typeface="Consolas"/>
              </a:rPr>
              <a:t>СРАВНЕНИЕ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286000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Тот же запрос в DuckDB по 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7432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0,98 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200400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pandas groupby по DataFrame, уже загруженному в память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6576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46,6 мс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114800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Доля FAILED по годам и службам: pandas, чтение + groupby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572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0,32 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5029200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9B4A8"/>
                </a:solidFill>
                <a:latin typeface="Arial"/>
              </a:rPr>
              <a:t>То же в DuckDB: один SQL по файлу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4864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591A"/>
                </a:solidFill>
                <a:latin typeface="Bahnschrift"/>
              </a:rPr>
              <a:t>0,041 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943600"/>
            <a:ext cx="6812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E8591A"/>
                </a:solidFill>
                <a:latin typeface="Arial"/>
              </a:defRPr>
            </a:pPr>
            <a:r>
              <a:t>Иная машина и прежний снимок; показатели не измерены повторно.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329" cy="6309360"/>
          </a:xfrm>
          <a:prstGeom prst="rect">
            <a:avLst/>
          </a:prstGeom>
          <a:noFill/>
          <a:ln w="9525">
            <a:solidFill>
              <a:srgbClr val="C9C3B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12648"/>
            <a:ext cx="118872" cy="118872"/>
          </a:xfrm>
          <a:prstGeom prst="rect">
            <a:avLst/>
          </a:prstGeom>
          <a:solidFill>
            <a:srgbClr val="E859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defRPr sz="1100">
                <a:solidFill>
                  <a:srgbClr val="E8591A"/>
                </a:solidFill>
                <a:latin typeface="Arial"/>
              </a:defRPr>
            </a:pPr>
            <a:r>
              <a:t>ПРИЛОЖЕНИЕ · ИСХОДНЫЕ ЗАМЕРЫ 26.09.2026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227"/>
                </a:solidFill>
                <a:latin typeface="Bahnschrift"/>
              </a:rPr>
              <a:t>Итоговая ведомость замеров для отчёта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572768"/>
            <a:ext cx="10911809" cy="0"/>
          </a:xfrm>
          <a:prstGeom prst="line">
            <a:avLst/>
          </a:prstGeom>
          <a:ln w="9525">
            <a:solidFill>
              <a:srgbClr val="C9C3B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254496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36E"/>
                </a:solidFill>
                <a:latin typeface="Consolas"/>
              </a:rPr>
              <a:t>Chicago Building Violations · замеры 26.09.2026 12:17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1409" y="6126480"/>
            <a:ext cx="4206240" cy="457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E2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45460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1186129" y="6126480"/>
            <a:ext cx="0" cy="457200"/>
          </a:xfrm>
          <a:prstGeom prst="line">
            <a:avLst/>
          </a:prstGeom>
          <a:ln w="12700">
            <a:solidFill>
              <a:srgbClr val="1E222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39425" y="61904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spc="100">
                <a:solidFill>
                  <a:srgbClr val="5B636E"/>
                </a:solidFill>
                <a:latin typeface="Consolas"/>
              </a:rPr>
              <a:t>СТРОЙКОНТРОЛЬ СМР · ERP · РК-1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9425" y="63550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227"/>
                </a:solidFill>
                <a:latin typeface="Arial"/>
              </a:rPr>
              <a:t>Медиханов Тимур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60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60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defRPr sz="1300">
                <a:latin typeface="Arial"/>
              </a:defRPr>
            </a:pPr>
            <a: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29" y="618134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spc="100">
                <a:solidFill>
                  <a:srgbClr val="5B636E"/>
                </a:solidFill>
                <a:latin typeface="Consolas"/>
              </a:rPr>
              <a:t>ЛИСТОВ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29" y="63185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defRPr sz="1300">
                <a:latin typeface="Arial"/>
              </a:defRPr>
            </a:pPr>
            <a:r>
              <a:t>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28800"/>
            <a:ext cx="10881360" cy="438912"/>
          </a:xfrm>
          <a:prstGeom prst="rect">
            <a:avLst/>
          </a:prstGeom>
          <a:solidFill>
            <a:srgbClr val="1E2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1828800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ПАРАМЕТР ЗАМЕРА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828800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ФОРМАТ / ИНСТРУМЕНТ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828800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spc="150">
                <a:solidFill>
                  <a:srgbClr val="FFFFFF"/>
                </a:solidFill>
                <a:latin typeface="Consolas"/>
              </a:rPr>
              <a:t>ЗНАЧЕНИЕ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2267712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Размер исходного файла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267712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36E"/>
                </a:solidFill>
                <a:latin typeface="Consolas"/>
              </a:rPr>
              <a:t>CSV, текст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267712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2227"/>
                </a:solidFill>
                <a:latin typeface="Consolas"/>
              </a:rPr>
              <a:t>930,39 МБ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279806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640080" y="2798064"/>
            <a:ext cx="10881360" cy="530352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2798064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Размер сжатого файла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798064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Parquet, Snappy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798064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Consolas"/>
              </a:rPr>
              <a:t>149,29 МБ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328416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822959" y="3328416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Время чтения в память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328416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36E"/>
                </a:solidFill>
                <a:latin typeface="Consolas"/>
              </a:rPr>
              <a:t>pandas · 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328416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2227"/>
                </a:solidFill>
                <a:latin typeface="Consolas"/>
              </a:rPr>
              <a:t>15,250 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858768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40080" y="3858768"/>
            <a:ext cx="10881360" cy="530352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3858768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Время чтения из файла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3858768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pandas · Parquet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858768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Consolas"/>
              </a:rPr>
              <a:t>1,581 с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4389120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822959" y="4389120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Агрегация по целевому столбцу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389120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591A"/>
                </a:solidFill>
                <a:latin typeface="Consolas"/>
              </a:rPr>
              <a:t>DuckDB 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38912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E8591A"/>
                </a:solidFill>
                <a:latin typeface="Consolas"/>
              </a:rPr>
              <a:t>0,0116 с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" y="4919472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640080" y="4919472"/>
            <a:ext cx="10881360" cy="530352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59" y="4919472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227"/>
                </a:solidFill>
                <a:latin typeface="Arial"/>
              </a:rPr>
              <a:t>Память машины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919472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36E"/>
                </a:solidFill>
                <a:latin typeface="Consolas"/>
              </a:rPr>
              <a:t>RAM всего / свободно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4919472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2227"/>
                </a:solidFill>
                <a:latin typeface="Consolas"/>
              </a:rPr>
              <a:t>8,4 / 7,6 ГБ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5449824"/>
            <a:ext cx="10881360" cy="0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5486400" y="1828800"/>
            <a:ext cx="0" cy="3621024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8686800" y="1828800"/>
            <a:ext cx="0" cy="3621024"/>
          </a:xfrm>
          <a:prstGeom prst="line">
            <a:avLst/>
          </a:prstGeom>
          <a:ln w="6350">
            <a:solidFill>
              <a:srgbClr val="C9C3B6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640080" y="5632704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36E"/>
                </a:solidFill>
                <a:latin typeface="Consolas"/>
              </a:rPr>
              <a:t>Медианы: чтение CSV — 3 прогона, Parquet — 5, DuckDB — 15. pandas читал все столбцы.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943600"/>
            <a:ext cx="6812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E8591A"/>
                </a:solidFill>
                <a:latin typeface="Arial"/>
              </a:defRPr>
            </a:pPr>
            <a:r>
              <a:t>Иная машина и прежний снимок; показатели не измерены повторно.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