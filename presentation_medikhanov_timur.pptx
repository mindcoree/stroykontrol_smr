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0" y="1280160"/>
            <a:ext cx="8046720" cy="2194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0" b="1">
                <a:solidFill>
                  <a:srgbClr val="2B3037"/>
                </a:solidFill>
                <a:latin typeface="Bahnschrift"/>
              </a:rPr>
              <a:t>0,9 ГБ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2B303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spc="200">
                <a:solidFill>
                  <a:srgbClr val="E8591A"/>
                </a:solidFill>
                <a:latin typeface="Consolas"/>
              </a:rPr>
              <a:t>КУРСОВОЙ ПРОЕКТ · РК-1 ·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929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Bahnschrift"/>
              </a:rPr>
              <a:t>Автоматизация строительного контроля</a:t>
            </a:r>
          </a:p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Bahnschrift"/>
              </a:rPr>
              <a:t>и управления качеством СМР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9B4A8"/>
                </a:solidFill>
                <a:latin typeface="Arial"/>
              </a:rPr>
              <a:t>Приложение для корпоративной ERP-платформы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10128"/>
            <a:ext cx="1188720" cy="54864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B9B4A8"/>
                </a:solidFill>
                <a:latin typeface="Arial"/>
              </a:rPr>
              <a:t>Аналитическая часть: качество данных, EDA и baseline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B9B4A8"/>
                </a:solidFill>
                <a:latin typeface="Arial"/>
              </a:rPr>
              <a:t>pandas  ·  Parquet  ·  DuckDB  ·  scikit-learn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800600"/>
            <a:ext cx="2468880" cy="0"/>
          </a:xfrm>
          <a:prstGeom prst="line">
            <a:avLst/>
          </a:prstGeom>
          <a:ln w="12700">
            <a:solidFill>
              <a:srgbClr val="2B3037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31520" y="4937760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E8591A"/>
                </a:solidFill>
                <a:latin typeface="Consolas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Медиханов Тимур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74720" y="4800600"/>
            <a:ext cx="2468880" cy="0"/>
          </a:xfrm>
          <a:prstGeom prst="line">
            <a:avLst/>
          </a:prstGeom>
          <a:ln w="12700">
            <a:solidFill>
              <a:srgbClr val="2B303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3474720" y="4937760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E8591A"/>
                </a:solidFill>
                <a:latin typeface="Consolas"/>
              </a:rPr>
              <a:t>ДАТАСЕТ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2120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Chicago Building Violations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полный архив с 2006 года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17920" y="4800600"/>
            <a:ext cx="2468880" cy="0"/>
          </a:xfrm>
          <a:prstGeom prst="line">
            <a:avLst/>
          </a:prstGeom>
          <a:ln w="12700">
            <a:solidFill>
              <a:srgbClr val="2B3037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217920" y="4937760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E8591A"/>
                </a:solidFill>
                <a:latin typeface="Consolas"/>
              </a:rPr>
              <a:t>ОБЪЁМ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2120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2 032 070 записей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931 МБ в CSV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0" y="4800600"/>
            <a:ext cx="2468880" cy="0"/>
          </a:xfrm>
          <a:prstGeom prst="line">
            <a:avLst/>
          </a:prstGeom>
          <a:ln w="12700">
            <a:solidFill>
              <a:srgbClr val="2B303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961120" y="4937760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E8591A"/>
                </a:solidFill>
                <a:latin typeface="Consolas"/>
              </a:rPr>
              <a:t>ДАТА АНАЛИЗА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52120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09.10.2026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-365760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-36576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92607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621792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950976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1280160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1609343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1938527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267711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596895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2926079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55263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584447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913631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242816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572000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901184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230368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559552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888736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6217920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6547104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6876288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7205472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7534656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7863840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8193024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8522208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8851392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9180576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9509759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9838943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10168127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10497311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10826495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11155679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11484863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11814047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12143231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12472415" y="6693408"/>
            <a:ext cx="329184" cy="164592"/>
          </a:xfrm>
          <a:prstGeom prst="parallelogram">
            <a:avLst>
              <a:gd name="adj" fmla="val 100000"/>
            </a:avLst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01 — ПОСТАНОВКА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Риск инспекции: пользователь и решение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577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КОНТЕКСТ СТРОЙКОНТРОЛЯ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148840"/>
            <a:ext cx="5577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227"/>
                </a:solidFill>
                <a:latin typeface="Arial"/>
              </a:rPr>
              <a:t>Координатор инспекций распределяет внимание между уже запланированными проверками. Модель оценивает вероятность FAILED до осмотра; инспектор подтверждает фактический результат.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227"/>
                </a:solidFill>
                <a:latin typeface="Arial"/>
              </a:rPr>
              <a:t>Единица анализа — одна инспекция объекта.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828800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0" y="1828800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12280" y="1938528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Пользователь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75104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КООРДИНАТОР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331720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Руководитель службы строительного контроля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816352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83680" y="2816352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12280" y="2926080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Решение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962656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ПРИОРИТЕТ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3319272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Какие проверки требуют более раннего внимания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803904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583680" y="3803904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12280" y="3913632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Результат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950208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ВЕРОЯТНОСТЬ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306824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P(FAILED | служба, категория, дата, координаты)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791456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0" y="4791456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12280" y="4901184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Критерий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937760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TEST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5294376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AP ≥ Dummy + 0,05; recall ≥ 0,80; precision ≥ доли FAILED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49039"/>
            <a:ext cx="5577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ЦЕНА ОШИБКИ · УЧЕБНАЯ ГИПОТЕЗА 5:1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105656"/>
            <a:ext cx="914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591A"/>
                </a:solidFill>
                <a:latin typeface="Bahnschrift"/>
              </a:rPr>
              <a:t>FN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096512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5 у.е. — пропущенная проблемная проверка; задержка внимания к нарушениям.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846320"/>
            <a:ext cx="914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227"/>
                </a:solidFill>
                <a:latin typeface="Bahnschrift"/>
              </a:rPr>
              <a:t>FP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4846320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1 у.е. — лишнее внимание к успешной проверке; расход времени специалиста.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69280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Стоимость не измерена в деньгах; доступность входных полей до осмотра требует подтверждения.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02 — ЗАДАЧА И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Контекст и структура данных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СПЕЦИФИКА СТРОЙКОНТРОЛЯ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14884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E2227"/>
                </a:solidFill>
                <a:latin typeface="Arial"/>
              </a:rPr>
              <a:t>Каждая инспекция объекта может содержать несколько записей нарушения. Аналитика объединяет этот поток на уровне проверки и оценивает риск её результата. ERP-приложение — дальнейшая часть проекта; здесь оценивается аналитика.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5760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Arial"/>
              </a:rPr>
              <a:t>Инспекция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39" y="3767328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8591A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365760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965960" y="365760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Arial"/>
              </a:rPr>
              <a:t>Нарушения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767328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8591A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39" y="365760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39" y="365760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Arial"/>
              </a:rPr>
              <a:t>Статус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8591A"/>
                </a:solidFill>
                <a:latin typeface="Arial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3657600"/>
            <a:ext cx="1051560" cy="685800"/>
          </a:xfrm>
          <a:prstGeom prst="rect">
            <a:avLst/>
          </a:prstGeom>
          <a:solidFill>
            <a:srgbClr val="1E2227"/>
          </a:solidFill>
          <a:ln w="9525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17720" y="3657600"/>
            <a:ext cx="10515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Запись</a:t>
            </a:r>
          </a:p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в ERP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82880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ПАСПОРТ ДАТАСЕТА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12140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Источник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212140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Chicago Data Portal · 22u3-xenr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09360" y="2441448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6309360" y="2459736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Записей (нарушений)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45973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2 032 070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309360" y="2779776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6309360" y="279806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Столбцов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79806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09360" y="3118104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6309360" y="3136392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Период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13639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01.01.2006 – 08.10.2026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09360" y="3456432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309360" y="347472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Объектов (property group)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34747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155 788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309360" y="3794760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6309360" y="38130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Типов нарушений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38130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1 574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4133087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6309360" y="4151376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Инспекций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41513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470 576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" y="4471416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6309360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Целевая метка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4489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inspection_status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309360" y="4809744"/>
            <a:ext cx="52120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640080" y="502920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РЕЗУЛЬТАТ ИНСПЕКЦИИ · ДОЛЯ ЗАПИСЕЙ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5321808"/>
            <a:ext cx="7446560" cy="27432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086639" y="5321808"/>
            <a:ext cx="2091092" cy="27432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177732" y="5321808"/>
            <a:ext cx="1372883" cy="274320"/>
          </a:xfrm>
          <a:prstGeom prst="rect">
            <a:avLst/>
          </a:prstGeom>
          <a:solidFill>
            <a:srgbClr val="9A9E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40080" y="5724144"/>
            <a:ext cx="109728" cy="109728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04671" y="5669280"/>
            <a:ext cx="11932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Consolas"/>
              </a:rPr>
              <a:t>FAILED 68,2 %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90572" y="5724144"/>
            <a:ext cx="109728" cy="109728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455164" y="5669280"/>
            <a:ext cx="11932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Consolas"/>
              </a:rPr>
              <a:t>PASSED 19,2 %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1063" y="5724144"/>
            <a:ext cx="109728" cy="109728"/>
          </a:xfrm>
          <a:prstGeom prst="rect">
            <a:avLst/>
          </a:prstGeom>
          <a:solidFill>
            <a:srgbClr val="9A9E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105655" y="5669280"/>
            <a:ext cx="11932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Consolas"/>
              </a:rPr>
              <a:t>CLOSED 12,6 %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03 — МАСШТАБ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От выборки к полному архиву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46177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1828800"/>
            <a:ext cx="4617720" cy="73152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210312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1E2227"/>
                </a:solidFill>
                <a:latin typeface="Consolas"/>
              </a:rPr>
              <a:t>БЫЛО · ВЫБОРКА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2542032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записей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542032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111 602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0119" y="2926079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60119" y="3072384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размер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072384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32,62 МБ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0119" y="3456432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960119" y="3602736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столбцов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602736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60119" y="3986784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960119" y="4133087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период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4133087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01.01.2021 – 24.01.2023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0119" y="4517136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3" name="Rectangle 32"/>
          <p:cNvSpPr/>
          <p:nvPr/>
        </p:nvSpPr>
        <p:spPr>
          <a:xfrm>
            <a:off x="6903720" y="1828800"/>
            <a:ext cx="46177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903720" y="1828800"/>
            <a:ext cx="4617720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59" y="210312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СТАЛО · ПОЛНЫЙ АРХИВ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59" y="2542032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записей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2542032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2 032 070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223759" y="2926079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7223759" y="3072384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размер 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3072384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931,34 МБ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3759" y="3456432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7223759" y="3602736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столбцов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3602736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26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223759" y="3986784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7223759" y="4133087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период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2520" y="4133087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01.01.2006 – 08.10.2026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223759" y="4517136"/>
            <a:ext cx="39776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5257800" y="2697480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>
                <a:solidFill>
                  <a:srgbClr val="E8591A"/>
                </a:solidFill>
                <a:latin typeface="Bahnschrift"/>
              </a:rPr>
              <a:t>×</a:t>
            </a:r>
            <a:r>
              <a:rPr sz="4400" b="1">
                <a:solidFill>
                  <a:srgbClr val="E8591A"/>
                </a:solidFill>
                <a:latin typeface="Bahnschrift"/>
              </a:rPr>
              <a:t>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5204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B636E"/>
                </a:solidFill>
                <a:latin typeface="Consolas"/>
              </a:rPr>
              <a:t>по объёму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E2227"/>
                </a:solidFill>
                <a:latin typeface="Arial"/>
              </a:rPr>
              <a:t>На 32 МБ разница между инструментами измерялась долями секунды и не могла быть аргументом. На полном архиве те же замеры показывают, где pandas упирается в память и зачем нужны Parquet и DuckDB.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04 — СТРУКТУРА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Слои данных: raw → processes →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32004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1828800"/>
            <a:ext cx="73152" cy="324612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20574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591A"/>
                </a:solidFill>
                <a:latin typeface="Consolas"/>
              </a:rPr>
              <a:t>raw/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2514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raw.ipynb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285292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data/raw/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CSV + Parquet ZSTD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0119" y="3566160"/>
            <a:ext cx="2606041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60119" y="3675887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E2227"/>
                </a:solidFill>
                <a:latin typeface="Bahnschrift"/>
              </a:rPr>
              <a:t>2 032 070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434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36E"/>
                </a:solidFill>
                <a:latin typeface="Arial"/>
              </a:rPr>
              <a:t>строк · 1 строка = 1 нарушение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15468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E8591A"/>
                </a:solidFill>
                <a:latin typeface="Arial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1828800"/>
            <a:ext cx="32004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80560" y="1828800"/>
            <a:ext cx="73152" cy="324612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00600" y="20574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591A"/>
                </a:solidFill>
                <a:latin typeface="Consolas"/>
              </a:rPr>
              <a:t>processes/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2514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processed.ipynb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285292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data/processed/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inspections.parquet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00600" y="3566160"/>
            <a:ext cx="260604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4800600" y="3675887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E2227"/>
                </a:solidFill>
                <a:latin typeface="Bahnschrift"/>
              </a:rPr>
              <a:t>470 576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434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36E"/>
                </a:solidFill>
                <a:latin typeface="Arial"/>
              </a:rPr>
              <a:t>строк · 1 строка = 1 инспекция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15468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E8591A"/>
                </a:solidFill>
                <a:latin typeface="Arial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1828800"/>
            <a:ext cx="32004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321040" y="1828800"/>
            <a:ext cx="73152" cy="324612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41080" y="20574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591A"/>
                </a:solidFill>
                <a:latin typeface="Consolas"/>
              </a:rPr>
              <a:t>features/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2514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227"/>
                </a:solidFill>
                <a:latin typeface="Consolas"/>
              </a:rPr>
              <a:t>feat.ipynb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285292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data/processed/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model_data.parquet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641080" y="3566160"/>
            <a:ext cx="260604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8641080" y="3675887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E2227"/>
                </a:solidFill>
                <a:latin typeface="Bahnschrift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434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36E"/>
                </a:solidFill>
                <a:latin typeface="Arial"/>
              </a:rPr>
              <a:t>входов · цель target_failed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636E"/>
                </a:solidFill>
                <a:latin typeface="Consolas"/>
              </a:rPr>
              <a:t>src/pipeline.py — полный расчёт · notebooks/course_project.ipynb — анализ · src/presentation.py — сборка слайдов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05 — ПРЕДОБРАБОТКА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Что сделано с данными в processes/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3200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1828800"/>
            <a:ext cx="17373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ШАГ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828800"/>
            <a:ext cx="49377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ЧТО СДЕЛАНО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828800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ЭФФЕКТ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2585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2585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Дубликаты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2585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Повторы ID → последняя версия по дате изменения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2585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267919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8" name="Rectangle 27"/>
          <p:cNvSpPr/>
          <p:nvPr/>
        </p:nvSpPr>
        <p:spPr>
          <a:xfrm>
            <a:off x="640080" y="2679192"/>
            <a:ext cx="10881360" cy="457200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7157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27157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27157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strip + upper; пустые строки → NULL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7157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4 категориальных поля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" y="313639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77240" y="31729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1729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Даты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31729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Явный разбор; диапазон 2006 — 09.10.2026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31729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0 ошибок разбора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40080" y="359359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40080" y="3593592"/>
            <a:ext cx="10881360" cy="457200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36301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36301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Координаты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36301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Пустые / вне рамки → NULL; инспекция сохраняется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6301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2 020 строк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" y="4050791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777240" y="40873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0873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Агрегация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40873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Группировка по inspection_number; проверка атрибутов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40873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470 576 инспекций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0080" y="450799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0" name="Rectangle 49"/>
          <p:cNvSpPr/>
          <p:nvPr/>
        </p:nvSpPr>
        <p:spPr>
          <a:xfrm>
            <a:off x="640080" y="4507992"/>
            <a:ext cx="10881360" cy="457200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5445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0" y="45445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Дата осмотра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45445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Разные violation_date внутри номера → неоднозначность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45445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41 744 исключений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40080" y="496519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777240" y="5001768"/>
            <a:ext cx="3200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71600" y="50017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Метка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80" y="50017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FAILED / PASSED; остальные статусы исключены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95360" y="500176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357 763 для модели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542239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640080" y="5632704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Consolas"/>
              </a:rPr>
              <a:t>41 744 — неоднозначность даты, а не доказанная ошибка источника. Без противоречий статуса, объекта и службы.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06 —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Какие поля доступны до текущей инспекции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577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ВХОДЫ ПРОСТОЙ МОДЕЛИ · 8 ПОЛЕЙ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194560"/>
            <a:ext cx="557784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department_bureau — назначенная служба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inspection_category — категория проверки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year — календарный год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month_sin / month_cos — циклический месяц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dayofweek — день недели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latitude / longitude — координаты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1E2227"/>
              </a:solidFill>
              <a:latin typeface="Arial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227"/>
                </a:solidFill>
                <a:latin typeface="Arial"/>
              </a:rPr>
              <a:t>В прежнем notebook было 15 признаков, включая историю результатов. История исключена из baseline: время доступности результатов и порядок проверок одного дня не подтверждены.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828800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0" y="1828800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12280" y="1938528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Категории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75104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ONE-HOT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331720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Неизвестная категория на тесте → handle_unknown=ignore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816352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83680" y="2816352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12280" y="2926080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Числа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962656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TRAIN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3319272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Медиана + индикатор пропуска + StandardScaler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803904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583680" y="3803904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12280" y="3913632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Постфактум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950208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ИСКЛЮЧЕНО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306824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n_violations, n_codes, текущий статус, устранение, waived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791456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0" y="4791456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12280" y="4901184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История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937760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СЛЕДУЮЩИЙ ЭТАП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5294376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Вернуть после проверки доступности событий во времени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07 — КАЧЕСТВО ДАННЫХ · 1–4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Проверки качества: результат и решение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21031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79" y="1828800"/>
            <a:ext cx="34747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ИЗМЕРЕННЫЙ РЕЗУЛЬТАТ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828800"/>
            <a:ext cx="44805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РЕШЕНИЕ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258568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1. Структура и типы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2258568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26 полей; ошибки разбора дат: 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25856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Явные типы, строгий CSV-парсер; потеря строк не допускается.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293522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640080" y="2935224"/>
            <a:ext cx="10881360" cy="713232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971800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2. Полнота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79" y="2971800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Без ключей: 0; без координат: 2 020.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Пропуски считаются по всем полям; координаты импутируются внутри train.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364845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77240" y="3685032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3. Уникальность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79" y="3685032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Повторы ID: 0; полные повторы: 0.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68503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ID нарушения и номер инспекции имеют разную гранулярность.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36168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40080" y="4361688"/>
            <a:ext cx="10881360" cy="713232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398264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4. Допустимые значения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79" y="4398264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Некорректных дат: 0; координат вне рамки: 0.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398264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Даты 2006–09.10.2026; грубая рамка 41.6–42.1 / −88–−87.5.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5074920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640080" y="548640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Стандартный чек-лист: подробный перечень преподавателя не предоставлен.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Полный raw-аудит без подвыборки; ошибки чтения строк не игнорируются.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07 — КАЧЕСТВО ДАННЫХ · 5–8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Проверки качества: результат и решение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21031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79" y="1828800"/>
            <a:ext cx="34747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ИЗМЕРЕННЫЙ РЕЗУЛЬТАТ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828800"/>
            <a:ext cx="44805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РЕШЕНИЕ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258568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5. Согласованность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2258568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Инспекций с разными датами: 41 744; обратных дат статуса: 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25856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Проверка единства объекта, даты, службы, категории и статуса внутри инспекции.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293522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640080" y="2935224"/>
            <a:ext cx="10881360" cy="713232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971800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6. Целевая метка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79" y="2971800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Бинарная выборка: 357 763; FAILED: 73.7%.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FAILED=1, PASSED=0; остальные статусы и конфликты исключены.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364845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77240" y="3685032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7. Репрезентативность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79" y="3685032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Один город; 155 788 групп объектов; 2026 неполный.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68503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Архив нарушений не является полным реестром всех осмотров или СМР.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36168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40080" y="4361688"/>
            <a:ext cx="10881360" cy="713232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398264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Bahnschrift"/>
              </a:rPr>
              <a:t>8. Утечка и время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79" y="4398264"/>
            <a:ext cx="3474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227"/>
                </a:solidFill>
                <a:latin typeface="Consolas"/>
              </a:rPr>
              <a:t>Train ≤2023; validation 2024; test 2025; 8 исходных признаков.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398264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Постфактум поля исключены; версии полей на момент осмотра недоступны.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5074920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640080" y="548640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Стандартный чек-лист: подробный перечень преподавателя не предоставлен.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Полный raw-аудит без подвыборки; ошибки чтения строк не игнорируются.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1/7 · ПОЛНОТА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Пропуски в исходном архиве нарушений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ДОЛЯ NULL И ПУСТЫХ СТРОК · RAW ·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2402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ssa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23042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20440" y="2304288"/>
            <a:ext cx="3463161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55279" y="22402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80,58 %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5831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violation_status_date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26471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20440" y="2647188"/>
            <a:ext cx="2469632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79" y="25831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57,46 %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9260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violation_location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40" y="29900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20440" y="2990088"/>
            <a:ext cx="2180578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79" y="29260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50,74 %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2689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violation_inspector_comments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33329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520440" y="3332988"/>
            <a:ext cx="403709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55279" y="32689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9,39 %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6118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violation_ordinance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36758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520440" y="3675888"/>
            <a:ext cx="125210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55279" y="36118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2,91 %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9547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street_type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40187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520440" y="4018788"/>
            <a:ext cx="33851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55279" y="39547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0,79 %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violation_description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20440" y="43616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520440" y="4361688"/>
            <a:ext cx="31231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55279" y="42976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0,73 %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4640580"/>
            <a:ext cx="2743200" cy="2400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longitude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4704588"/>
            <a:ext cx="4297680" cy="161163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520440" y="4704588"/>
            <a:ext cx="8229" cy="161163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79" y="4640580"/>
            <a:ext cx="91440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0,10 %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8591A"/>
                </a:solidFill>
                <a:latin typeface="Bahnschrift"/>
              </a:rPr>
              <a:t>80,6 %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пропусков в поле SSA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Не используется в baseline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Координаты: медиана train + индикатор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Даты статуса и комментарии исключены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257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Максимальная доля пропусков — 80.6% в ssa. Даты статуса, комментарии и SSA не включены в модель; координаты заполняются медианой только по train с индикатором пропуска.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2/7 · ВРЕМЯ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Количество инспекций по годам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ОДНА ИНСПЕКЦИЯ = ОДИН НОМЕР · 2006–2026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754879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40080" y="460857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149089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40080" y="400278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11 027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354330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40080" y="339699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22 055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293751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40080" y="279120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33 083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233172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40080" y="218541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44 111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9907" y="2591344"/>
            <a:ext cx="255161" cy="216353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87365" y="2984279"/>
            <a:ext cx="255161" cy="177060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46217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24822" y="3412757"/>
            <a:ext cx="255161" cy="134212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183674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2279" y="3238454"/>
            <a:ext cx="255161" cy="151642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21131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99736" y="3341783"/>
            <a:ext cx="255161" cy="141309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858588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37193" y="3250704"/>
            <a:ext cx="255161" cy="150417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196045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74650" y="3502407"/>
            <a:ext cx="255161" cy="125247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533502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12108" y="3628753"/>
            <a:ext cx="255161" cy="112612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870960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49565" y="3424293"/>
            <a:ext cx="255161" cy="133058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08417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7022" y="3250924"/>
            <a:ext cx="255161" cy="150395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45874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79" y="3120788"/>
            <a:ext cx="255161" cy="1634091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883331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61936" y="3165503"/>
            <a:ext cx="255161" cy="158937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20788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99393" y="3217360"/>
            <a:ext cx="255161" cy="1537519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558245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36850" y="3308439"/>
            <a:ext cx="255161" cy="144644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95702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2019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74308" y="4028501"/>
            <a:ext cx="255161" cy="726378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3160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11765" y="3981039"/>
            <a:ext cx="255161" cy="77384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70617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222" y="4015591"/>
            <a:ext cx="255161" cy="739288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08074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86679" y="4102111"/>
            <a:ext cx="255161" cy="652768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245531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24136" y="4071953"/>
            <a:ext cx="255161" cy="68292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582988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61593" y="4080742"/>
            <a:ext cx="255161" cy="674137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920445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99050" y="4284598"/>
            <a:ext cx="255161" cy="470281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257902" y="4864607"/>
            <a:ext cx="33745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8591A"/>
                </a:solidFill>
                <a:latin typeface="Bahnschrift"/>
              </a:rPr>
              <a:t>39 385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максимум: 2006 год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2026 — неполный год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Объём зависит от регистрации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Test модели: полный 2025 год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5257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Максимум в архиве — 2006 год: 39,385 инспекций. 2026 год неполный и не используется как тест. Изменение объёма отражает и практику регистрации, поэтому не доказывает изменение качества зданий.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3/7 · 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Статусы на уровне инспекции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ДО ФИЛЬТРАЦИИ СТАТУСОВ И НЕОДНОЗНАЧНЫХ ДАТ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754879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40080" y="460857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149089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40080" y="400278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82 794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354330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40080" y="339699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165 589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293751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40080" y="279120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248 384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233172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40080" y="218541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331 179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9907" y="2591344"/>
            <a:ext cx="1335024" cy="2163535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4864607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FAILED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2317024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8591A"/>
                </a:solidFill>
                <a:latin typeface="Consolas"/>
              </a:rPr>
              <a:t>295 696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7228" y="4008665"/>
            <a:ext cx="1335024" cy="746214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26080" y="4864607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PASSED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3734345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101 987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4548" y="4222015"/>
            <a:ext cx="1335024" cy="532864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43400" y="4864607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CLOSED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3947695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72 828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01868" y="4754433"/>
            <a:ext cx="1335024" cy="44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60720" y="4864607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HOLD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4480113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61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19188" y="4754850"/>
            <a:ext cx="1335024" cy="29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78040" y="4864607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UNKNOWN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448053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8591A"/>
                </a:solidFill>
                <a:latin typeface="Bahnschrift"/>
              </a:rPr>
              <a:t>73,7 %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FAILED в бинарной выборке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FAILED=1; PASSED=0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CLOSED / HOLD / UNKNOWN исключены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Accuracy дополняется метриками классов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257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В бинарной выборке FAILED составляет 73.7%. CLOSED, HOLD и UNKNOWN исключены: отсутствие FAILED не означает PASSED. Accuracy без метрик классов может скрывать пропуски проблемных проверок.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4/7 · ГРАНУЛЯРНОСТЬ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Сколько нарушений приходится на инспекцию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ГРУППЫ ПО ЧИСЛУ ЗАПИСЕЙ НАРУШЕНИЯ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754879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40080" y="460857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149089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40080" y="400278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39 130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354330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40080" y="339699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78 261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293751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40080" y="279120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117 391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2331720"/>
            <a:ext cx="777240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40080" y="218541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156 522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9907" y="2591344"/>
            <a:ext cx="1098804" cy="216353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4864607"/>
            <a:ext cx="11811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2317024"/>
            <a:ext cx="1181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139 752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31007" y="3461947"/>
            <a:ext cx="1098804" cy="129293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89860" y="4864607"/>
            <a:ext cx="11811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9860" y="3187627"/>
            <a:ext cx="1181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83 516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12108" y="2855562"/>
            <a:ext cx="1098804" cy="1899317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70960" y="4864607"/>
            <a:ext cx="11811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3–5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70960" y="2581242"/>
            <a:ext cx="1181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122 685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93208" y="3412454"/>
            <a:ext cx="1098804" cy="134242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52060" y="4864607"/>
            <a:ext cx="11811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6–10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52060" y="3138134"/>
            <a:ext cx="1181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86 713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74308" y="4274682"/>
            <a:ext cx="1098804" cy="480197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33160" y="4864607"/>
            <a:ext cx="11811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11–20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3160" y="4000362"/>
            <a:ext cx="1181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31 018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55408" y="4648183"/>
            <a:ext cx="1098804" cy="10669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414260" y="4864607"/>
            <a:ext cx="11811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&gt;20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14260" y="4373863"/>
            <a:ext cx="1181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E2227"/>
                </a:solidFill>
                <a:latin typeface="Consolas"/>
              </a:rPr>
              <a:t>6 892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8591A"/>
                </a:solidFill>
                <a:latin typeface="Bahnschrift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записи: медиана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95-й перцентиль — 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Максимум — 538 записей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Текущие нарушения используются только в EDA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257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Медиана — 3 записи, 95-й перцентиль — 13, максимум — 538. Доля FAILED по строкам перевзвешивает инспекции с большим числом нарушений. Число нарушений текущей проверки используется только в EDA.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5/7 · СЛУЖБЫ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Доля FAILED в десяти крупнейших службах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БИНАРНАЯ ВЫБОРКА · 95 % ИНТЕРВАЛЫ УИЛСОНА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212848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SIGNS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2276856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20440" y="2276856"/>
            <a:ext cx="4010300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55279" y="2212848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93,3 %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500884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CONSERVATION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2564891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20440" y="2564891"/>
            <a:ext cx="3753129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79" y="2500884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87,3 %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788920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NEW CONSTRUCTION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40" y="2852927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20440" y="2852927"/>
            <a:ext cx="3598096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79" y="2788920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83,7 %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076956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SPECIAL TASK FORCE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3140964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520440" y="3140964"/>
            <a:ext cx="2745581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55279" y="3076956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63,9 %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364991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SPECIAL INSPECTION PROGRAM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3428999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520440" y="3428999"/>
            <a:ext cx="2578787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55279" y="3364991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60,0 %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653028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REFRIGERATION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3717036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520440" y="3717036"/>
            <a:ext cx="2562073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55279" y="3653028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59,6 %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41064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ELEVATOR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20440" y="4005072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520440" y="4005072"/>
            <a:ext cx="2381995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55279" y="3941064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55,4 %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4229100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PLUMBING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4293108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520440" y="4293108"/>
            <a:ext cx="2279455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79" y="4229100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53,0 %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517136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ELECTRICAL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20440" y="4581144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520440" y="4581144"/>
            <a:ext cx="2216089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55279" y="4517136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51,6 %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805172"/>
            <a:ext cx="2743200" cy="201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VENTILATION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4869180"/>
            <a:ext cx="4297680" cy="135376"/>
          </a:xfrm>
          <a:prstGeom prst="rect">
            <a:avLst/>
          </a:prstGeom>
          <a:solidFill>
            <a:srgbClr val="F2EFE8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520440" y="4869180"/>
            <a:ext cx="1371501" cy="135376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955279" y="4805172"/>
            <a:ext cx="914400" cy="207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591A"/>
                </a:solidFill>
                <a:latin typeface="Consolas"/>
              </a:rPr>
              <a:t>31,9 %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7641" y="2345436"/>
            <a:ext cx="44594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7040880" y="2116836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n=8 913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267345" y="2633472"/>
            <a:ext cx="12387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7040880" y="2404872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n=204 683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93225" y="2921508"/>
            <a:ext cx="49905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040880" y="2692908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n=15 530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226365" y="3209544"/>
            <a:ext cx="78876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7040880" y="2980944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n=10 522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056849" y="3497579"/>
            <a:ext cx="84411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7040880" y="3268979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n=9 556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050376" y="3785615"/>
            <a:ext cx="64083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7040880" y="3557015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n=16 635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876169" y="4073652"/>
            <a:ext cx="52461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7040880" y="3845052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n=25 474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767495" y="4361688"/>
            <a:ext cx="64740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7040880" y="4133087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n=16 863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701448" y="4649723"/>
            <a:ext cx="70125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7040880" y="4421123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n=14 411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4865196" y="4937759"/>
            <a:ext cx="53770" cy="0"/>
          </a:xfrm>
          <a:prstGeom prst="line">
            <a:avLst/>
          </a:prstGeom>
          <a:ln w="6350">
            <a:solidFill>
              <a:srgbClr val="1E2227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7040880" y="4709159"/>
            <a:ext cx="73152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B636E"/>
                </a:solidFill>
                <a:latin typeface="Consolas"/>
              </a:rPr>
              <a:t>n=21 327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591A"/>
                </a:solidFill>
                <a:latin typeface="Bahnschrift"/>
              </a:rPr>
              <a:t>31–93 %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разброс долей FAILED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Процедуры учёта различаются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Интервалы описательные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Повторы объектов не учитываются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0080" y="5303520"/>
            <a:ext cx="8046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2227"/>
                </a:solidFill>
                <a:latin typeface="Arial"/>
              </a:rPr>
              <a:t>Среди 10 крупнейших служб доля FAILED меняется от 31.9% до 93.3%. Служба — кандидат в признаки, но различие может отражать процедуры учёта. Интервалы описательные и не учитывают зависимость повторных инспекций одного объекта.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6/7 · СЕЗОННОСТЬ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Месяц: объём проверок и доля FAILED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ЧИСЛО ИНСПЕКЦИЙ · 2006–2025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182880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ДОЛЯ FAILED ·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800600"/>
            <a:ext cx="370332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465429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4206240"/>
            <a:ext cx="370332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548640" y="405993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9 157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3611880"/>
            <a:ext cx="370332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48640" y="346557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18 314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3017520"/>
            <a:ext cx="370332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287121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27 471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1520" y="2423160"/>
            <a:ext cx="370332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48640" y="227685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36 628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8468" y="2861572"/>
            <a:ext cx="169163" cy="1939027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1732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09928" y="3037794"/>
            <a:ext cx="169163" cy="176280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6878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61388" y="2677885"/>
            <a:ext cx="169163" cy="2122714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92024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2848" y="2830287"/>
            <a:ext cx="169163" cy="197031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7170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4308" y="2806920"/>
            <a:ext cx="169163" cy="1993679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42316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15768" y="2730784"/>
            <a:ext cx="169163" cy="206981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7462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7228" y="2896816"/>
            <a:ext cx="169163" cy="1903783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2608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18687" y="2731563"/>
            <a:ext cx="169163" cy="2069036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177539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0148" y="2964384"/>
            <a:ext cx="169163" cy="1836215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2900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21607" y="2913692"/>
            <a:ext cx="169163" cy="1886907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680459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73068" y="3206681"/>
            <a:ext cx="169163" cy="1593918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31920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24527" y="3244522"/>
            <a:ext cx="169163" cy="1556077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183379" y="4910328"/>
            <a:ext cx="2514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36E"/>
                </a:solidFill>
                <a:latin typeface="Consolas"/>
              </a:rPr>
              <a:t>12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166360" y="4800600"/>
            <a:ext cx="33832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4754880" y="4690872"/>
            <a:ext cx="320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166360" y="4206240"/>
            <a:ext cx="33832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4754880" y="4096511"/>
            <a:ext cx="320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25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166360" y="3611880"/>
            <a:ext cx="33832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754880" y="3502152"/>
            <a:ext cx="320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50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66360" y="3017520"/>
            <a:ext cx="33832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4754880" y="2907791"/>
            <a:ext cx="320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75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166360" y="2423160"/>
            <a:ext cx="338328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4754880" y="2313432"/>
            <a:ext cx="320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34356" y="2993752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056632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41926" y="3012937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>
            <a:off x="5166360" y="3025756"/>
            <a:ext cx="307570" cy="19185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364202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49497" y="3018301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73930" y="3044941"/>
            <a:ext cx="307571" cy="5364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671773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57068" y="3067202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3" name="Connector 72"/>
          <p:cNvCxnSpPr/>
          <p:nvPr/>
        </p:nvCxnSpPr>
        <p:spPr>
          <a:xfrm>
            <a:off x="5781501" y="3050305"/>
            <a:ext cx="307571" cy="48901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979344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64639" y="3031646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 flipV="1">
            <a:off x="6089072" y="3063650"/>
            <a:ext cx="307571" cy="35556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286915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72210" y="3034926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9" name="Connector 78"/>
          <p:cNvCxnSpPr/>
          <p:nvPr/>
        </p:nvCxnSpPr>
        <p:spPr>
          <a:xfrm>
            <a:off x="6396643" y="3063650"/>
            <a:ext cx="307571" cy="3280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6594486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79781" y="3037817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6704214" y="3066930"/>
            <a:ext cx="307571" cy="2891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902057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87352" y="3025771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5" name="Connector 84"/>
          <p:cNvCxnSpPr/>
          <p:nvPr/>
        </p:nvCxnSpPr>
        <p:spPr>
          <a:xfrm flipV="1">
            <a:off x="7011785" y="3057775"/>
            <a:ext cx="307571" cy="12046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209628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94923" y="3014635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87"/>
          <p:cNvCxnSpPr/>
          <p:nvPr/>
        </p:nvCxnSpPr>
        <p:spPr>
          <a:xfrm flipV="1">
            <a:off x="7319356" y="3046639"/>
            <a:ext cx="307571" cy="11136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517199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902494" y="3019311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7626927" y="3046639"/>
            <a:ext cx="307571" cy="4676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824770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210065" y="3009307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4" name="Connector 93"/>
          <p:cNvCxnSpPr/>
          <p:nvPr/>
        </p:nvCxnSpPr>
        <p:spPr>
          <a:xfrm flipV="1">
            <a:off x="7934498" y="3041311"/>
            <a:ext cx="307571" cy="10004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8132341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17636" y="3028009"/>
            <a:ext cx="64008" cy="64008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/>
          <p:cNvCxnSpPr/>
          <p:nvPr/>
        </p:nvCxnSpPr>
        <p:spPr>
          <a:xfrm>
            <a:off x="8242069" y="3041311"/>
            <a:ext cx="307571" cy="18702"/>
          </a:xfrm>
          <a:prstGeom prst="line">
            <a:avLst/>
          </a:prstGeom>
          <a:ln w="19050">
            <a:solidFill>
              <a:srgbClr val="E859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8439912" y="4937760"/>
            <a:ext cx="219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6E"/>
                </a:solidFill>
                <a:latin typeface="Consolas"/>
              </a:rPr>
              <a:t>12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591A"/>
                </a:solidFill>
                <a:latin typeface="Bahnschrift"/>
              </a:rPr>
              <a:t>72–75 %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месячная доля FAILED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Только полные годы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Месяц кодируется sin / cos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Сезон смешан с составом служб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5321808"/>
            <a:ext cx="8046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В полных годах месячная доля FAILED составляет 71.6%–74.7%. Месяц кодируется циклически; это ассоциация, смешанная с составом служб и лет, а не причинный эффект сезона.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08 — EDA · 7/7 · ГЕОГРАФИЯ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Где концентрируются зарегистрированные 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ПЛОТНОСТЬ ИНСПЕКЦИЙ · ЛОГАРИФМИЧЕСКАЯ ШКАЛА</a:t>
            </a:r>
          </a:p>
        </p:txBody>
      </p:sp>
      <p:pic>
        <p:nvPicPr>
          <p:cNvPr id="19" name="Picture 18" descr="presentation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8183879" cy="356150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8591A"/>
                </a:solidFill>
                <a:latin typeface="Bahnschrift"/>
              </a:rPr>
              <a:t>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инспекции без координат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Карта показывает наблюдение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Нет нормировки на число зданий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Нельзя оценить опасность района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0560" y="5513832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dirty="0" err="1">
                <a:solidFill>
                  <a:srgbClr val="1E2227"/>
                </a:solidFill>
                <a:latin typeface="Arial"/>
              </a:rPr>
              <a:t>У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502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инспекций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нет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пригодных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координат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. Карта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показывает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интенсивность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наблюдения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в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архиве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без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нормировки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на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число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зданий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. География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может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помочь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ранжированию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но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не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позволяет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объявить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район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более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1E2227"/>
                </a:solidFill>
                <a:latin typeface="Arial"/>
              </a:rPr>
              <a:t>опасным</a:t>
            </a:r>
            <a:r>
              <a:rPr sz="1250" b="0" dirty="0">
                <a:solidFill>
                  <a:srgbClr val="1E222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09 — BASELINE · ПРОТОКОЛ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Временное разделение и обучение модели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15544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ВЫБОРКА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1828800"/>
            <a:ext cx="365760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ПЕРИОД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828800"/>
            <a:ext cx="24688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ИНСПЕКЦИИ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21031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FAILED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258568"/>
            <a:ext cx="155448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258568"/>
            <a:ext cx="365760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2006-01-01 — 2023-12-31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258568"/>
            <a:ext cx="246888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328 294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258568"/>
            <a:ext cx="210312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73,0 %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275234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8" name="Rectangle 27"/>
          <p:cNvSpPr/>
          <p:nvPr/>
        </p:nvSpPr>
        <p:spPr>
          <a:xfrm>
            <a:off x="640080" y="2752344"/>
            <a:ext cx="10881360" cy="530352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788920"/>
            <a:ext cx="155448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2788920"/>
            <a:ext cx="365760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2024-01-01 — 2024-12-31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788920"/>
            <a:ext cx="246888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10 594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2788920"/>
            <a:ext cx="210312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76,9 %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" y="328269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77240" y="3319272"/>
            <a:ext cx="155448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3319272"/>
            <a:ext cx="365760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2025-01-01 — 2025-12-31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319272"/>
            <a:ext cx="246888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10 910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3319272"/>
            <a:ext cx="2103120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79,4 %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40080" y="381304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40080" y="4005072"/>
            <a:ext cx="5212080" cy="15544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4005072"/>
            <a:ext cx="73152" cy="15544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4206240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E8591A"/>
                </a:solidFill>
                <a:latin typeface="Consolas"/>
              </a:rPr>
              <a:t>DUMMYCLASSIFIER · STRATEGY=PRIOR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572000"/>
            <a:ext cx="4617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Одна вероятность для всех инспекций — частота FAILED по train. Показывает, что можно получить без использования признаков.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005072"/>
            <a:ext cx="5212080" cy="15544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09360" y="4005072"/>
            <a:ext cx="73152" cy="15544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83680" y="4206240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E8591A"/>
                </a:solidFill>
                <a:latin typeface="Consolas"/>
              </a:rPr>
              <a:t>LOGISTIC REGRESSION · L2 · C=1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572000"/>
            <a:ext cx="4617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Pipeline: OneHotEncoder + медиана + StandardScaler. lbfgs; max_iter=2000. Все преобразования обучаются только на train.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715000"/>
            <a:ext cx="1088136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Consolas"/>
              </a:rPr>
              <a:t>Порог: минимум 5×FN+FP на 2024. Test 2025 не участвует в настройке; 2026 неполный и исключён.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09 — BASELINE · МЕТРИКИ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Две простые модели: проверка на 2025 годе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457200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МЕТРИКА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828800"/>
            <a:ext cx="26517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DUMMY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1828800"/>
            <a:ext cx="28346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LOGISTIC REGRESSION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258568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Average Precision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58568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0,794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258568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591A"/>
                </a:solidFill>
                <a:latin typeface="Consolas"/>
              </a:rPr>
              <a:t>0,928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259689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640080" y="2596896"/>
            <a:ext cx="10881360" cy="374904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633472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ROC-AUC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2633472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633472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591A"/>
                </a:solidFill>
                <a:latin typeface="Consolas"/>
              </a:rPr>
              <a:t>0,810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2971800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77240" y="3008376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Precision FAILED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3008376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0,794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008376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0,814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334670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40080" y="3346704"/>
            <a:ext cx="10881360" cy="374904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3383280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Recall FAILED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383280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1,000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3383280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0,998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372160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777240" y="3758184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Balanced accuracy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3758184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3758184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0,561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" y="409651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0080" y="4096512"/>
            <a:ext cx="10881360" cy="374904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4133088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F1 FAILED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4133088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0,885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4133088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0,897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0080" y="447141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777240" y="4507992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Brier (меньше лучше)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4507992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0,168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4507992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0,119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40080" y="4846320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3" name="Rectangle 52"/>
          <p:cNvSpPr/>
          <p:nvPr/>
        </p:nvSpPr>
        <p:spPr>
          <a:xfrm>
            <a:off x="640080" y="4846320"/>
            <a:ext cx="10881360" cy="374904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77240" y="4882896"/>
            <a:ext cx="457200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Стоимость (5×FN+FP)/N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60" y="4882896"/>
            <a:ext cx="265176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227"/>
                </a:solidFill>
                <a:latin typeface="Consolas"/>
              </a:rPr>
              <a:t>0,206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4882896"/>
            <a:ext cx="2834640" cy="3017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591A"/>
                </a:solidFill>
                <a:latin typeface="Consolas"/>
              </a:rPr>
              <a:t>0,190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522122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Test: 10 910 инспекций; FAILED 79,4 %. Порог: 0,235.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AP — average_precision_score, без трапецеидальной интерполяции PR-кривой.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09 — BASELINE · ОШИБКИ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Что стоит за высоким recall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3794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DUMMY PRIOR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2860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36E"/>
                </a:solidFill>
                <a:latin typeface="Consolas"/>
              </a:rPr>
              <a:t>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22860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36E"/>
                </a:solidFill>
                <a:latin typeface="Consolas"/>
              </a:rPr>
              <a:t>FAILED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685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36E"/>
                </a:solidFill>
                <a:latin typeface="Consolas"/>
              </a:rPr>
              <a:t>PASSED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697480"/>
            <a:ext cx="118872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71600" y="26974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2227"/>
                </a:solidFill>
                <a:latin typeface="Bahnschrift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2697480"/>
            <a:ext cx="118872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51760" y="26974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2227"/>
                </a:solidFill>
                <a:latin typeface="Bahnschrift"/>
              </a:rPr>
              <a:t>2 249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30168"/>
            <a:ext cx="685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36E"/>
                </a:solidFill>
                <a:latin typeface="Consolas"/>
              </a:rPr>
              <a:t>FAILED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630168"/>
            <a:ext cx="118872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71600" y="363016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2227"/>
                </a:solidFill>
                <a:latin typeface="Bahnschrift"/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3630168"/>
            <a:ext cx="1188720" cy="822960"/>
          </a:xfrm>
          <a:prstGeom prst="rect">
            <a:avLst/>
          </a:prstGeom>
          <a:solidFill>
            <a:srgbClr val="E8591A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51760" y="363016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Bahnschrift"/>
              </a:rPr>
              <a:t>8 661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7548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36E"/>
                </a:solidFill>
                <a:latin typeface="Consolas"/>
              </a:rPr>
              <a:t>строки — факт; столбцы — прогноз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1828800"/>
            <a:ext cx="3794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50">
                <a:solidFill>
                  <a:srgbClr val="5B636E"/>
                </a:solidFill>
                <a:latin typeface="Consolas"/>
              </a:rPr>
              <a:t>LOGISTIC REGRESSION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22860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36E"/>
                </a:solidFill>
                <a:latin typeface="Consolas"/>
              </a:rPr>
              <a:t>PASSED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22860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36E"/>
                </a:solidFill>
                <a:latin typeface="Consolas"/>
              </a:rPr>
              <a:t>FAILED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697480"/>
            <a:ext cx="685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36E"/>
                </a:solidFill>
                <a:latin typeface="Consolas"/>
              </a:rPr>
              <a:t>PASSED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77840" y="2697480"/>
            <a:ext cx="118872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77840" y="26974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2227"/>
                </a:solidFill>
                <a:latin typeface="Bahnschrift"/>
              </a:rPr>
              <a:t>281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2697480"/>
            <a:ext cx="118872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0" y="26974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2227"/>
                </a:solidFill>
                <a:latin typeface="Bahnschrift"/>
              </a:rPr>
              <a:t>1 968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630168"/>
            <a:ext cx="685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36E"/>
                </a:solidFill>
                <a:latin typeface="Consolas"/>
              </a:rPr>
              <a:t>FAILED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3630168"/>
            <a:ext cx="118872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577840" y="363016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2227"/>
                </a:solidFill>
                <a:latin typeface="Bahnschrift"/>
              </a:rPr>
              <a:t>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3630168"/>
            <a:ext cx="1188720" cy="822960"/>
          </a:xfrm>
          <a:prstGeom prst="rect">
            <a:avLst/>
          </a:prstGeom>
          <a:solidFill>
            <a:srgbClr val="E8591A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0" y="363016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Bahnschrift"/>
              </a:rPr>
              <a:t>8 641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47548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36E"/>
                </a:solidFill>
                <a:latin typeface="Consolas"/>
              </a:rPr>
              <a:t>строки — факт; столбцы — прогноз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98280" y="1828800"/>
            <a:ext cx="2423160" cy="3840480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8591A"/>
                </a:solidFill>
                <a:latin typeface="Bahnschrift"/>
              </a:rPr>
              <a:t>97,2 %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2788920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проверок получают приоритет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0" y="3593592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509760" y="3538728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FN: 20; FP: 1 968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26880" y="4160520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509760" y="4105656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Ложные тревоги у PASSED: 87,5 %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26880" y="4727448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09760" y="4672584"/>
            <a:ext cx="1783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B4A8"/>
                </a:solidFill>
                <a:latin typeface="Arial"/>
              </a:rPr>
              <a:t>Условная стоимость ниже Dummy на 8,0 %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376672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Высокий recall достигнут широкой очередью. Учебный критерий выполнен, но экономия внимания ещё не доказана: нужен лимит очереди и precision@K.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10 — ДАЛЬНЕЙШАЯ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План после первого рубежного контроля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15544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ЭТАП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1828800"/>
            <a:ext cx="44805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1828800"/>
            <a:ext cx="40233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РЕЗУЛЬТАТ / КРИТЕРИЙ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258568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8–9 недели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258568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Проверить FAILED/PASSED, реальную дату осмотра и доступность метаданных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258568"/>
            <a:ext cx="4023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Словарь полей; подтверждённый момент прогноза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295351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640080" y="2953512"/>
            <a:ext cx="10881360" cy="731520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990088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10–11 недели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2990088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Получить полный журнал инспекций и локальную выборку СМР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2990088"/>
            <a:ext cx="4023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Включены проверки без нарушений; понятна разметка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368503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77240" y="3721608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12–13 недели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3721608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Rolling backtest; тест новых объектов; абляция служб; калибровка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721608"/>
            <a:ext cx="4023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Устойчивые метрики по времени и подгруппам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4165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40080" y="4416552"/>
            <a:ext cx="10881360" cy="731520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453128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227"/>
                </a:solidFill>
                <a:latin typeface="Consolas"/>
              </a:rPr>
              <a:t>14–15 недели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453128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Согласовать цены ошибок и лимит очереди; сравнить простое дерево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4453128"/>
            <a:ext cx="4023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Рабочий порог; precision@K; сравнение с baseline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514807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640080" y="551383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Разработка, реализация ERP и внедрение — следующие работы проекта, вне текущей аналитической сдачи.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10 —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Ограничения результата и способы их уменьшить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393192"/>
          </a:xfrm>
          <a:prstGeom prst="rect">
            <a:avLst/>
          </a:prstGeom>
          <a:solidFill>
            <a:srgbClr val="1E222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828800"/>
            <a:ext cx="457200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РИСК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828800"/>
            <a:ext cx="128016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УРОВЕНЬ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828800"/>
            <a:ext cx="42062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00">
                <a:solidFill>
                  <a:srgbClr val="FFFFFF"/>
                </a:solidFill>
                <a:latin typeface="Consolas"/>
              </a:rPr>
              <a:t>КАК УМЕНЬШИТЬ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258568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Архив нарушений не охватывает все инспекции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58568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591A"/>
                </a:solidFill>
                <a:latin typeface="Consolas"/>
              </a:rPr>
              <a:t>ВЫСОКИЙ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258568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Получить полный журнал и знаменатель проверок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271576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640080" y="2715768"/>
            <a:ext cx="10881360" cy="493776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752344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Чикаго отличается от локальных процессов СМР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2752344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591A"/>
                </a:solidFill>
                <a:latin typeface="Consolas"/>
              </a:rPr>
              <a:t>ВЫСОКИЙ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275234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Независимая проверка на локальных данных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320954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77240" y="3246120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Исторические статусы и поля могут меняться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3246120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591A"/>
                </a:solidFill>
                <a:latin typeface="Consolas"/>
              </a:rPr>
              <a:t>ВЫСОКИЙ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324612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Версии данных на момент принятия решения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3703320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40080" y="3703320"/>
            <a:ext cx="10881360" cy="493776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3739896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Разные даты внутри inspection_number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739896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227"/>
                </a:solidFill>
                <a:latin typeface="Consolas"/>
              </a:rPr>
              <a:t>СРЕДНИЙ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73989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Реальная дата осмотра; анализ чувствительности отбора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419709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777240" y="4233672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Повторы объектов; дрейф служб и категорий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4233672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227"/>
                </a:solidFill>
                <a:latin typeface="Consolas"/>
              </a:rPr>
              <a:t>СРЕДНИЙ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23367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Тест новых объектов; оценки по годам и службам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" y="469087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0080" y="4690872"/>
            <a:ext cx="10881360" cy="493776"/>
          </a:xfrm>
          <a:prstGeom prst="rect">
            <a:avLst/>
          </a:prstGeom>
          <a:solidFill>
            <a:srgbClr val="E8E4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4727448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227"/>
                </a:solidFill>
                <a:latin typeface="Arial"/>
              </a:rPr>
              <a:t>Цена ошибок 5:1 пока условная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4727448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227"/>
                </a:solidFill>
                <a:latin typeface="Consolas"/>
              </a:rPr>
              <a:t>СРЕДНИЙ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4727448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227"/>
                </a:solidFill>
                <a:latin typeface="Arial"/>
              </a:rPr>
              <a:t>Согласование; сценарии 1:1 / 3:1 / 5:1 / 10:1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0080" y="518464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640080" y="5559552"/>
            <a:ext cx="1088136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36E"/>
                </a:solidFill>
                <a:latin typeface="Consolas"/>
              </a:rPr>
              <a:t>66,9 % объектов test уже встречались в train: текущая оценка относится к будущим проверкам известного парка.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11 — ОБРАБОТКА · ЗАМЕРЫ 26.09.2026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Что сделано с данными в processes/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замеры 26.09.2026 12:17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783080"/>
            <a:ext cx="10881360" cy="347472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783080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1783080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ШАГ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783080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ЧТО СДЕЛАНО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1783080"/>
            <a:ext cx="283464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ЭФФЕКТ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305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1305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Дубликаты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1305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повторы id: оставлена последняя версия записи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1305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25877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77240" y="25877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25877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Категории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25877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strip + upper, пустые строки → пропуски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587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5 столбцов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30449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777240" y="30449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0449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Даты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0449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нет даты нарушения или она вне 2006 — сегодня: запись удалена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0449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0080" y="35021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777240" y="35021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35021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Дата статуса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35021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раньше даты нарушения → пропуск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5021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" y="39593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777240" y="39593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39593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Координаты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39593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вне границ Чикаго или пустые → пропуск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39593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2 020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0080" y="44165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777240" y="44165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0" y="44165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Агрегация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44165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нарушения → инспекции (inspection_number)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44165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2 030 085 → 470 057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40080" y="48737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777240" y="487375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71600" y="48737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Bahnschrift"/>
              </a:rPr>
              <a:t>Типы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4873752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category, downcast int, float32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Consolas"/>
              </a:rPr>
              <a:t>98 → 53 МБ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533095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5513832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36E"/>
                </a:solidFill>
                <a:latin typeface="Consolas"/>
              </a:rPr>
              <a:t>Гранулярность processes: одна строка = одна инспекция объекта · целевая метка inspection_status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961888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1A"/>
                </a:solidFill>
                <a:latin typeface="Consolas"/>
              </a:rPr>
              <a:t>Исторические измерения автора: прежний снимок и машина; не повторные замеры.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11 — ХРАНЕНИЕ · ЗАМЕРЫ 26.09.2026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CSV против Parquet: размер на диске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замеры 26.09.2026 12:17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5B636E"/>
                </a:solidFill>
                <a:latin typeface="Consolas"/>
              </a:rPr>
              <a:t>CSV · ТЕКСТ, БЕЗ ТИПОВ И СЖАТИЯ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157984"/>
            <a:ext cx="5852160" cy="54864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2157984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E2227"/>
                </a:solidFill>
                <a:latin typeface="Bahnschrift"/>
              </a:rPr>
              <a:t>930,4 МБ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2999232"/>
            <a:ext cx="5852160" cy="0"/>
          </a:xfrm>
          <a:prstGeom prst="line">
            <a:avLst/>
          </a:prstGeom>
          <a:ln w="9525">
            <a:solidFill>
              <a:srgbClr val="5B636E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640080" y="2916936"/>
            <a:ext cx="0" cy="164592"/>
          </a:xfrm>
          <a:prstGeom prst="line">
            <a:avLst/>
          </a:prstGeom>
          <a:ln w="9525">
            <a:solidFill>
              <a:srgbClr val="5B636E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585215" y="2944368"/>
            <a:ext cx="109729" cy="109728"/>
          </a:xfrm>
          <a:prstGeom prst="line">
            <a:avLst/>
          </a:prstGeom>
          <a:ln w="19050">
            <a:solidFill>
              <a:srgbClr val="5B636E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492240" y="2916936"/>
            <a:ext cx="0" cy="164592"/>
          </a:xfrm>
          <a:prstGeom prst="line">
            <a:avLst/>
          </a:prstGeom>
          <a:ln w="9525">
            <a:solidFill>
              <a:srgbClr val="5B636E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6437376" y="2944368"/>
            <a:ext cx="109728" cy="109728"/>
          </a:xfrm>
          <a:prstGeom prst="line">
            <a:avLst/>
          </a:prstGeom>
          <a:ln w="19050">
            <a:solidFill>
              <a:srgbClr val="5B636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2834640" y="2724912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B636E"/>
                </a:solidFill>
                <a:latin typeface="Consolas"/>
              </a:rPr>
              <a:t>100 %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290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E8591A"/>
                </a:solidFill>
                <a:latin typeface="Consolas"/>
              </a:rPr>
              <a:t>PARQUET · КОЛОНКИ, ТИПЫ, SNAPPY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58184"/>
            <a:ext cx="5852160" cy="54864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3758184"/>
            <a:ext cx="939035" cy="54864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3758184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591A"/>
                </a:solidFill>
                <a:latin typeface="Bahnschrift"/>
              </a:rPr>
              <a:t>149,3 МБ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4599432"/>
            <a:ext cx="939035" cy="0"/>
          </a:xfrm>
          <a:prstGeom prst="line">
            <a:avLst/>
          </a:prstGeom>
          <a:ln w="9525">
            <a:solidFill>
              <a:srgbClr val="E8591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640080" y="4517136"/>
            <a:ext cx="0" cy="164592"/>
          </a:xfrm>
          <a:prstGeom prst="line">
            <a:avLst/>
          </a:prstGeom>
          <a:ln w="9525">
            <a:solidFill>
              <a:srgbClr val="E8591A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85215" y="4544568"/>
            <a:ext cx="109729" cy="109728"/>
          </a:xfrm>
          <a:prstGeom prst="line">
            <a:avLst/>
          </a:prstGeom>
          <a:ln w="19050">
            <a:solidFill>
              <a:srgbClr val="E859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579115" y="4517136"/>
            <a:ext cx="0" cy="164592"/>
          </a:xfrm>
          <a:prstGeom prst="line">
            <a:avLst/>
          </a:prstGeom>
          <a:ln w="9525">
            <a:solidFill>
              <a:srgbClr val="E8591A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1524251" y="4544568"/>
            <a:ext cx="109728" cy="109728"/>
          </a:xfrm>
          <a:prstGeom prst="line">
            <a:avLst/>
          </a:prstGeom>
          <a:ln w="19050">
            <a:solidFill>
              <a:srgbClr val="E8591A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378077" y="4325112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8591A"/>
                </a:solidFill>
                <a:latin typeface="Consolas"/>
              </a:rPr>
              <a:t>16 %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1828800"/>
            <a:ext cx="2423160" cy="306324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8591A"/>
                </a:solidFill>
                <a:latin typeface="Bahnschrift"/>
              </a:rPr>
              <a:t>×6,2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278892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меньше места на диске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3438144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509759" y="338328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4A8"/>
                </a:solidFill>
                <a:latin typeface="Arial"/>
              </a:rPr>
              <a:t>типы дат и чисел хранятся в самом файле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3895344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09759" y="384048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4A8"/>
                </a:solidFill>
                <a:latin typeface="Arial"/>
              </a:rPr>
              <a:t>запрос читает только нужные столбцы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26880" y="4352544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59" y="429768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4A8"/>
                </a:solidFill>
                <a:latin typeface="Arial"/>
              </a:rPr>
              <a:t>сжатие Snappy без потерь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9834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2227"/>
                </a:solidFill>
                <a:latin typeface="Arial"/>
              </a:rPr>
              <a:t>Если запросу нужны 2 столбца из 26, Parquet прочитает только их, а CSV придётся разобрать целиком, строка за строкой.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61888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1A"/>
                </a:solidFill>
                <a:latin typeface="Consolas"/>
              </a:rPr>
              <a:t>Исторические измерения автора: прежний снимок и машина; не повторные замеры.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11 — PANDAS · ЗАМЕРЫ 26.09.2026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Время чтения датасета в память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замеры 26.09.2026 12:17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5B636E"/>
                </a:solidFill>
                <a:latin typeface="Consolas"/>
              </a:rPr>
              <a:t>PD.READ_CSV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157984"/>
            <a:ext cx="5852160" cy="54864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2157984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E2227"/>
                </a:solidFill>
                <a:latin typeface="Bahnschrift"/>
              </a:rPr>
              <a:t>15,25 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2999232"/>
            <a:ext cx="5852160" cy="0"/>
          </a:xfrm>
          <a:prstGeom prst="line">
            <a:avLst/>
          </a:prstGeom>
          <a:ln w="9525">
            <a:solidFill>
              <a:srgbClr val="5B636E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640080" y="2916936"/>
            <a:ext cx="0" cy="164592"/>
          </a:xfrm>
          <a:prstGeom prst="line">
            <a:avLst/>
          </a:prstGeom>
          <a:ln w="9525">
            <a:solidFill>
              <a:srgbClr val="5B636E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585215" y="2944368"/>
            <a:ext cx="109729" cy="109728"/>
          </a:xfrm>
          <a:prstGeom prst="line">
            <a:avLst/>
          </a:prstGeom>
          <a:ln w="19050">
            <a:solidFill>
              <a:srgbClr val="5B636E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492240" y="2916936"/>
            <a:ext cx="0" cy="164592"/>
          </a:xfrm>
          <a:prstGeom prst="line">
            <a:avLst/>
          </a:prstGeom>
          <a:ln w="9525">
            <a:solidFill>
              <a:srgbClr val="5B636E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6437376" y="2944368"/>
            <a:ext cx="109728" cy="109728"/>
          </a:xfrm>
          <a:prstGeom prst="line">
            <a:avLst/>
          </a:prstGeom>
          <a:ln w="19050">
            <a:solidFill>
              <a:srgbClr val="5B636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2834640" y="2724912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B636E"/>
                </a:solidFill>
                <a:latin typeface="Consolas"/>
              </a:rPr>
              <a:t>100 %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290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E8591A"/>
                </a:solidFill>
                <a:latin typeface="Consolas"/>
              </a:rPr>
              <a:t>PD.READ_PARQUET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58184"/>
            <a:ext cx="5852160" cy="54864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3758184"/>
            <a:ext cx="606705" cy="54864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3758184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591A"/>
                </a:solidFill>
                <a:latin typeface="Bahnschrift"/>
              </a:rPr>
              <a:t>1,58 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4599432"/>
            <a:ext cx="606705" cy="0"/>
          </a:xfrm>
          <a:prstGeom prst="line">
            <a:avLst/>
          </a:prstGeom>
          <a:ln w="9525">
            <a:solidFill>
              <a:srgbClr val="E8591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640080" y="4517136"/>
            <a:ext cx="0" cy="164592"/>
          </a:xfrm>
          <a:prstGeom prst="line">
            <a:avLst/>
          </a:prstGeom>
          <a:ln w="9525">
            <a:solidFill>
              <a:srgbClr val="E8591A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85215" y="4544568"/>
            <a:ext cx="109729" cy="109728"/>
          </a:xfrm>
          <a:prstGeom prst="line">
            <a:avLst/>
          </a:prstGeom>
          <a:ln w="19050">
            <a:solidFill>
              <a:srgbClr val="E859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246785" y="4517136"/>
            <a:ext cx="0" cy="164592"/>
          </a:xfrm>
          <a:prstGeom prst="line">
            <a:avLst/>
          </a:prstGeom>
          <a:ln w="9525">
            <a:solidFill>
              <a:srgbClr val="E8591A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1191921" y="4544568"/>
            <a:ext cx="109728" cy="109728"/>
          </a:xfrm>
          <a:prstGeom prst="line">
            <a:avLst/>
          </a:prstGeom>
          <a:ln w="19050">
            <a:solidFill>
              <a:srgbClr val="E8591A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211912" y="4325112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8591A"/>
                </a:solidFill>
                <a:latin typeface="Consolas"/>
              </a:rPr>
              <a:t>10 %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1828800"/>
            <a:ext cx="2423160" cy="306324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26880" y="201168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8591A"/>
                </a:solidFill>
                <a:latin typeface="Bahnschrift"/>
              </a:rPr>
              <a:t>×9,6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278892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быстрее чтение из Parquet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3438144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509759" y="338328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4A8"/>
                </a:solidFill>
                <a:latin typeface="Arial"/>
              </a:rPr>
              <a:t>медиана: CSV — 3 прогона, Parquet — 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3895344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09759" y="384048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4A8"/>
                </a:solidFill>
                <a:latin typeface="Arial"/>
              </a:rPr>
              <a:t>DataFrame в памяти: 1,18 ГБ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26880" y="4352544"/>
            <a:ext cx="73152" cy="7315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59" y="429768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9B4A8"/>
                </a:solidFill>
                <a:latin typeface="Arial"/>
              </a:rPr>
              <a:t>читались все столбцы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98348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2227"/>
                </a:solidFill>
                <a:latin typeface="Arial"/>
              </a:rPr>
              <a:t>Все столбцы поместились: оценка 1,1 ГБ при 7,2 ГБ свободной памяти. Для предобработки pandas подходит.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61888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1A"/>
                </a:solidFill>
                <a:latin typeface="Consolas"/>
              </a:rPr>
              <a:t>Исторические измерения автора: прежний снимок и машина; не повторные замеры.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11 — DUCKDB · ЗАМЕРЫ 26.09.2026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Агрегация прямо по Parquet-файлу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замеры 26.09.2026 12:17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737360"/>
            <a:ext cx="8046720" cy="1325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800" b="1">
                <a:solidFill>
                  <a:srgbClr val="E8591A"/>
                </a:solidFill>
                <a:latin typeface="Bahnschrift"/>
              </a:rPr>
              <a:t>11,6</a:t>
            </a:r>
            <a:r>
              <a:rPr sz="3400" b="1">
                <a:solidFill>
                  <a:srgbClr val="E8591A"/>
                </a:solidFill>
                <a:latin typeface="Bahnschrift"/>
              </a:rPr>
              <a:t>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0896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227"/>
                </a:solidFill>
                <a:latin typeface="Arial"/>
              </a:rPr>
              <a:t>группировка и подсчёт 2 030 101 строк по inspection_status · медиана 15 прогонов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11880"/>
            <a:ext cx="8046720" cy="1188720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767328"/>
            <a:ext cx="768096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FE8"/>
                </a:solidFill>
                <a:latin typeface="Consolas"/>
              </a:rPr>
              <a:t>SELECT inspection_status, count(*) AS n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FE8"/>
                </a:solidFill>
                <a:latin typeface="Consolas"/>
              </a:rPr>
              <a:t>FROM 'raw/building_violations.parquet'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FE8"/>
                </a:solidFill>
                <a:latin typeface="Consolas"/>
              </a:rPr>
              <a:t>GROUP BY 1 ORDER BY n DESC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636E"/>
                </a:solidFill>
                <a:latin typeface="Arial"/>
              </a:rPr>
              <a:t>Прямое поколоночное сканирование: DuckDB читает нужный столбец и выполняет запрос в собственной памяти; загрузка в pandas не требуется.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98280" y="1783080"/>
            <a:ext cx="2423160" cy="4224528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1965960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E8591A"/>
                </a:solidFill>
                <a:latin typeface="Consolas"/>
              </a:rPr>
              <a:t>СРАВНЕНИЕ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286000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B9B4A8"/>
                </a:solidFill>
                <a:latin typeface="Arial"/>
              </a:rPr>
              <a:t>Тот же запрос в DuckDB по 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7432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hnschrift"/>
              </a:rPr>
              <a:t>0,98 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200400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B9B4A8"/>
                </a:solidFill>
                <a:latin typeface="Arial"/>
              </a:rPr>
              <a:t>pandas groupby по DataFrame, уже загруженному в память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6576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hnschrift"/>
              </a:rPr>
              <a:t>46,6 мс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114800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B9B4A8"/>
                </a:solidFill>
                <a:latin typeface="Arial"/>
              </a:rPr>
              <a:t>Доля FAILED по годам и службам: pandas, чтение + groupby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45720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hnschrift"/>
              </a:rPr>
              <a:t>0,32 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5029200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B9B4A8"/>
                </a:solidFill>
                <a:latin typeface="Arial"/>
              </a:rPr>
              <a:t>То же в DuckDB: один SQL по файлу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54864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591A"/>
                </a:solidFill>
                <a:latin typeface="Bahnschrift"/>
              </a:rPr>
              <a:t>0,041 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1A"/>
                </a:solidFill>
                <a:latin typeface="Consolas"/>
              </a:rPr>
              <a:t>Исторические измерения автора: прежний снимок и машина; не повторные замеры.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11 — ВЕДОМОСТЬ · ЗАМЕРЫ 26.09.2026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Итоговая ведомость замеров для отчёта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замеры 26.09.2026 12:17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828800"/>
            <a:ext cx="10881360" cy="438912"/>
          </a:xfrm>
          <a:prstGeom prst="rect">
            <a:avLst/>
          </a:prstGeom>
          <a:solidFill>
            <a:srgbClr val="1E2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" y="1828800"/>
            <a:ext cx="4480559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ПАРАМЕТР ЗАМЕРА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1828800"/>
            <a:ext cx="283464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ФОРМАТ / ИНСТРУМЕНТ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24688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FFFFFF"/>
                </a:solidFill>
                <a:latin typeface="Consolas"/>
              </a:rPr>
              <a:t>ЗНАЧЕНИЕ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2267712"/>
            <a:ext cx="44805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2227"/>
                </a:solidFill>
                <a:latin typeface="Arial"/>
              </a:rPr>
              <a:t>Размер исходного файла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2267712"/>
            <a:ext cx="283464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36E"/>
                </a:solidFill>
                <a:latin typeface="Consolas"/>
              </a:rPr>
              <a:t>CSV, текст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267712"/>
            <a:ext cx="246888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E2227"/>
                </a:solidFill>
                <a:latin typeface="Consolas"/>
              </a:rPr>
              <a:t>930,39 МБ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279806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640080" y="2798064"/>
            <a:ext cx="10881360" cy="530352"/>
          </a:xfrm>
          <a:prstGeom prst="rect">
            <a:avLst/>
          </a:prstGeom>
          <a:solidFill>
            <a:srgbClr val="E8E4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2798064"/>
            <a:ext cx="44805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2227"/>
                </a:solidFill>
                <a:latin typeface="Arial"/>
              </a:rPr>
              <a:t>Размер сжатого файла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2798064"/>
            <a:ext cx="283464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Parquet, Snappy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798064"/>
            <a:ext cx="246888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E8591A"/>
                </a:solidFill>
                <a:latin typeface="Consolas"/>
              </a:rPr>
              <a:t>149,29 МБ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3328416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822959" y="3328416"/>
            <a:ext cx="44805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2227"/>
                </a:solidFill>
                <a:latin typeface="Arial"/>
              </a:rPr>
              <a:t>Время чтения в память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328416"/>
            <a:ext cx="283464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36E"/>
                </a:solidFill>
                <a:latin typeface="Consolas"/>
              </a:rPr>
              <a:t>pandas · 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328416"/>
            <a:ext cx="246888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E2227"/>
                </a:solidFill>
                <a:latin typeface="Consolas"/>
              </a:rPr>
              <a:t>15,250 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3858768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40080" y="3858768"/>
            <a:ext cx="10881360" cy="530352"/>
          </a:xfrm>
          <a:prstGeom prst="rect">
            <a:avLst/>
          </a:prstGeom>
          <a:solidFill>
            <a:srgbClr val="E8E4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59" y="3858768"/>
            <a:ext cx="44805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2227"/>
                </a:solidFill>
                <a:latin typeface="Arial"/>
              </a:rPr>
              <a:t>Время чтения из файла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3858768"/>
            <a:ext cx="283464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pandas · Parquet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858768"/>
            <a:ext cx="246888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E8591A"/>
                </a:solidFill>
                <a:latin typeface="Consolas"/>
              </a:rPr>
              <a:t>1,581 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4389120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822959" y="4389120"/>
            <a:ext cx="44805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2227"/>
                </a:solidFill>
                <a:latin typeface="Arial"/>
              </a:rPr>
              <a:t>Агрегация по целевому столбцу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4389120"/>
            <a:ext cx="283464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591A"/>
                </a:solidFill>
                <a:latin typeface="Consolas"/>
              </a:rPr>
              <a:t>DuckDB SQL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389120"/>
            <a:ext cx="246888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E8591A"/>
                </a:solidFill>
                <a:latin typeface="Consolas"/>
              </a:rPr>
              <a:t>0,0116 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" y="4919472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0080" y="4919472"/>
            <a:ext cx="10881360" cy="530352"/>
          </a:xfrm>
          <a:prstGeom prst="rect">
            <a:avLst/>
          </a:prstGeom>
          <a:solidFill>
            <a:srgbClr val="E8E4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2959" y="4919472"/>
            <a:ext cx="44805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2227"/>
                </a:solidFill>
                <a:latin typeface="Arial"/>
              </a:rPr>
              <a:t>Память машины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4919472"/>
            <a:ext cx="283464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36E"/>
                </a:solidFill>
                <a:latin typeface="Consolas"/>
              </a:rPr>
              <a:t>RAM всего / свободно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4919472"/>
            <a:ext cx="246888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E2227"/>
                </a:solidFill>
                <a:latin typeface="Consolas"/>
              </a:rPr>
              <a:t>8,4 / 7,6 ГБ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0080" y="5449824"/>
            <a:ext cx="10881360" cy="0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5486400" y="1828800"/>
            <a:ext cx="0" cy="3621024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8686800" y="1828800"/>
            <a:ext cx="0" cy="3621024"/>
          </a:xfrm>
          <a:prstGeom prst="line">
            <a:avLst/>
          </a:prstGeom>
          <a:ln w="6350">
            <a:solidFill>
              <a:srgbClr val="C9C3B6"/>
            </a:solidFill>
          </a:ln>
        </p:spPr>
      </p:cxnSp>
      <p:sp>
        <p:nvSpPr>
          <p:cNvPr id="51" name="TextBox 50"/>
          <p:cNvSpPr txBox="1"/>
          <p:nvPr/>
        </p:nvSpPr>
        <p:spPr>
          <a:xfrm>
            <a:off x="640080" y="5632704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36E"/>
                </a:solidFill>
                <a:latin typeface="Consolas"/>
              </a:rPr>
              <a:t>Медианы: чтение CSV — 3 прогона, Parquet — 5, DuckDB — 15. pandas читал все столбцы.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61888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1A"/>
                </a:solidFill>
                <a:latin typeface="Consolas"/>
              </a:rPr>
              <a:t>Исторические измерения автора: прежний снимок и машина; не повторные замеры.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11 — ВЫБОР ИНСТРУМЕНТОВ · ЗАМЕРЫ 26.09.2026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Выбор инструментов, обоснованный цифрами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замеры 26.09.2026 12:17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577840" cy="402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E2227"/>
                </a:solidFill>
                <a:latin typeface="Arial"/>
              </a:rPr>
              <a:t>Датасет занимает 0,93 ГБ в CSV (2 030 101 запись). В Parquet тот же набор весит 149 МБ, в 6,2 раза меньше, и читается в pandas за 1,6 с против 15,2 с у CSV. По памяти: полная таблица занимает в pandas 1,2 ГБ при 7,2 ГБ свободной памяти, для предобработки pandas достаточно. Агрегация в DuckDB прямо по Parquet занимает 11,6 мс, сводный запрос по годам и службам выполняется в 7,8 раза быстрее, чем в pandas. Данные помещаются на одну машину с 8,4 ГБ памяти, обработка разовая, поэтому Spark избыточен: Parquet — для хранения, DuckDB — для агрегаций, pandas — для предобработки.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828800"/>
            <a:ext cx="4937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0" y="1828800"/>
            <a:ext cx="73152" cy="868680"/>
          </a:xfrm>
          <a:prstGeom prst="rect">
            <a:avLst/>
          </a:prstGeom>
          <a:solidFill>
            <a:srgbClr val="C9C3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E2227"/>
                </a:solidFill>
                <a:latin typeface="Bahnschrift"/>
              </a:rPr>
              <a:t>Excel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9751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spc="100">
                <a:solidFill>
                  <a:srgbClr val="5B636E"/>
                </a:solidFill>
                <a:latin typeface="Consolas"/>
              </a:rPr>
              <a:t>НЕ ОТКРОЕТ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3317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6E"/>
                </a:solidFill>
                <a:latin typeface="Arial"/>
              </a:rPr>
              <a:t>2 030 101 строк при пределе листа 1 048 576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2816352"/>
            <a:ext cx="4937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0" y="2816352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12280" y="2926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E2227"/>
                </a:solidFill>
                <a:latin typeface="Bahnschrift"/>
              </a:rPr>
              <a:t>pandas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96265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spc="100">
                <a:solidFill>
                  <a:srgbClr val="E8591A"/>
                </a:solidFill>
                <a:latin typeface="Consolas"/>
              </a:rPr>
              <a:t>ПРЕДОБРАБОТКА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31927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6E"/>
                </a:solidFill>
                <a:latin typeface="Arial"/>
              </a:rPr>
              <a:t>DataFrame 1,18 ГБ при 8,4 ГБ RAM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803904"/>
            <a:ext cx="4937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83680" y="3803904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12280" y="391363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E2227"/>
                </a:solidFill>
                <a:latin typeface="Bahnschrift"/>
              </a:rPr>
              <a:t>Parquet + DuckDB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95020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spc="100">
                <a:solidFill>
                  <a:srgbClr val="E8591A"/>
                </a:solidFill>
                <a:latin typeface="Consolas"/>
              </a:rPr>
              <a:t>ХРАНЕНИЕ И АГРЕГАЦИИ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30682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6E"/>
                </a:solidFill>
                <a:latin typeface="Arial"/>
              </a:rPr>
              <a:t>файл в 6,2 раза меньше · запрос 11,6 мс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4791456"/>
            <a:ext cx="4937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0" y="4791456"/>
            <a:ext cx="73152" cy="868680"/>
          </a:xfrm>
          <a:prstGeom prst="rect">
            <a:avLst/>
          </a:prstGeom>
          <a:solidFill>
            <a:srgbClr val="C9C3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2280" y="490118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E2227"/>
                </a:solidFill>
                <a:latin typeface="Bahnschrift"/>
              </a:rPr>
              <a:t>Spark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93776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spc="100">
                <a:solidFill>
                  <a:srgbClr val="5B636E"/>
                </a:solidFill>
                <a:latin typeface="Consolas"/>
              </a:rPr>
              <a:t>ИЗБЫТОЧЕН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5294376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6E"/>
                </a:solidFill>
                <a:latin typeface="Arial"/>
              </a:rPr>
              <a:t>данные помещаются на одну машину, обработка разовая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961888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1A"/>
                </a:solidFill>
                <a:latin typeface="Consolas"/>
              </a:rPr>
              <a:t>Исторические измерения автора: прежний снимок и машина; не повторные замеры.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329" cy="6309360"/>
          </a:xfrm>
          <a:prstGeom prst="rect">
            <a:avLst/>
          </a:prstGeom>
          <a:noFill/>
          <a:ln w="9525">
            <a:solidFill>
              <a:srgbClr val="C9C3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612648"/>
            <a:ext cx="118872" cy="118872"/>
          </a:xfrm>
          <a:prstGeom prst="rect">
            <a:avLst/>
          </a:prstGeom>
          <a:solidFill>
            <a:srgbClr val="E859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E8591A"/>
                </a:solidFill>
                <a:latin typeface="Consolas"/>
              </a:rPr>
              <a:t>12 — РЕЗУЛЬТАТ АНАЛИТИЧЕСКОЙ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2227"/>
                </a:solidFill>
                <a:latin typeface="Bahnschrift"/>
              </a:rPr>
              <a:t>От данных к проверяемой точке отсчёта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1572768"/>
            <a:ext cx="10911809" cy="0"/>
          </a:xfrm>
          <a:prstGeom prst="line">
            <a:avLst/>
          </a:prstGeom>
          <a:ln w="9525">
            <a:solidFill>
              <a:srgbClr val="C9C3B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40080" y="6254496"/>
            <a:ext cx="66751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36E"/>
                </a:solidFill>
                <a:latin typeface="Consolas"/>
              </a:rPr>
              <a:t>Chicago Building Violations · анализ 09.10.2026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11409" y="6126480"/>
            <a:ext cx="4206240" cy="457200"/>
          </a:xfrm>
          <a:prstGeom prst="rect">
            <a:avLst/>
          </a:prstGeom>
          <a:solidFill>
            <a:srgbClr val="F2EFE8"/>
          </a:solidFill>
          <a:ln w="12700">
            <a:solidFill>
              <a:srgbClr val="1E222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45460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86129" y="6126480"/>
            <a:ext cx="0" cy="457200"/>
          </a:xfrm>
          <a:prstGeom prst="line">
            <a:avLst/>
          </a:prstGeom>
          <a:ln w="12700">
            <a:solidFill>
              <a:srgbClr val="1E222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839425" y="6190488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spc="100">
                <a:solidFill>
                  <a:srgbClr val="5B636E"/>
                </a:solidFill>
                <a:latin typeface="Consolas"/>
              </a:rPr>
              <a:t>СТРОЙКОНТРОЛЬ СМР · ERP · РК-1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9425" y="63550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227"/>
                </a:solidFill>
                <a:latin typeface="Arial"/>
              </a:rPr>
              <a:t>Медиханов Тимур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60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60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8591A"/>
                </a:solidFill>
                <a:latin typeface="Bahnschrift"/>
              </a:rPr>
              <a:t>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29" y="6181344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spc="100">
                <a:solidFill>
                  <a:srgbClr val="5B636E"/>
                </a:solidFill>
                <a:latin typeface="Consolas"/>
              </a:rPr>
              <a:t>ЛИСТОВ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6129" y="631850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2227"/>
                </a:solidFill>
                <a:latin typeface="Bahnschrift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828800"/>
            <a:ext cx="557784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227"/>
                </a:solidFill>
                <a:latin typeface="Arial"/>
              </a:rPr>
              <a:t>На полном снимке из 2 032 070 записей проверены типы, полнота, уникальность, диапазоны, согласованность, метка, репрезентативность и утечка.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endParaRPr sz="1500" b="0">
              <a:solidFill>
                <a:srgbClr val="1E2227"/>
              </a:solidFill>
              <a:latin typeface="Arial"/>
            </a:endParaRP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227"/>
                </a:solidFill>
                <a:latin typeface="Arial"/>
              </a:rPr>
              <a:t>Для модели сформировано 357 763 инспекций с однозначным FAILED/PASSED. Семь графиков объясняют структуру данных и ограничения анализа.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endParaRPr sz="1500" b="0">
              <a:solidFill>
                <a:srgbClr val="1E2227"/>
              </a:solidFill>
              <a:latin typeface="Arial"/>
            </a:endParaRP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227"/>
                </a:solidFill>
                <a:latin typeface="Arial"/>
              </a:rPr>
              <a:t>На временном тесте AP логистической модели — 0,928 против 0,794 у Dummy. Но приоритет получает 97,2 % проверок: практическая полезность требует локальных данных и подтверждённого лимита внимания.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828800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0" y="1828800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Отчёт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975104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14 СТРАНИЦ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331720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Постановка, качество, EDA, baseline, план и риски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2816352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0" y="2816352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12280" y="2926080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Notebook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962656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ВЫПОЛНЕН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319272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Все ячейки исполнены; результаты воспроизводимы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803904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83680" y="3803904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12280" y="3913632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Данные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950208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СНИМОК В GIT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306824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Компактные таблицы + дата, источник и SHA-256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4791456"/>
            <a:ext cx="4937760" cy="868680"/>
          </a:xfrm>
          <a:prstGeom prst="rect">
            <a:avLst/>
          </a:prstGeom>
          <a:solidFill>
            <a:srgbClr val="FFFFFF"/>
          </a:solidFill>
          <a:ln w="7620">
            <a:solidFill>
              <a:srgbClr val="C9C3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0" y="4791456"/>
            <a:ext cx="73152" cy="868680"/>
          </a:xfrm>
          <a:prstGeom prst="rect">
            <a:avLst/>
          </a:prstGeom>
          <a:solidFill>
            <a:srgbClr val="E859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2280" y="4901184"/>
            <a:ext cx="23701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E2227"/>
                </a:solidFill>
                <a:latin typeface="Bahnschrift"/>
              </a:rPr>
              <a:t>Проект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937760"/>
            <a:ext cx="22713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60">
                <a:solidFill>
                  <a:srgbClr val="E8591A"/>
                </a:solidFill>
                <a:latin typeface="Consolas"/>
              </a:rPr>
              <a:t>САМОСТОЯТЕЛЬНЫЙ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5294376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36E"/>
                </a:solidFill>
                <a:latin typeface="Arial"/>
              </a:rPr>
              <a:t>Аналитика курсового проекта; без привязки к диплому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3633</Words>
  <Application>Microsoft Macintosh PowerPoint</Application>
  <PresentationFormat>Широкоэкранный</PresentationFormat>
  <Paragraphs>874</Paragraphs>
  <Slides>28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3" baseType="lpstr">
      <vt:lpstr>Arial</vt:lpstr>
      <vt:lpstr>Bahnschrift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Медиханов Тимур Фархадович</cp:lastModifiedBy>
  <cp:revision>3</cp:revision>
  <dcterms:created xsi:type="dcterms:W3CDTF">2013-01-27T09:14:16Z</dcterms:created>
  <dcterms:modified xsi:type="dcterms:W3CDTF">2026-10-09T12:21:29Z</dcterms:modified>
  <cp:category/>
</cp:coreProperties>
</file>